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CF6F5"/>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F3C7E"/>
        </a:solidFill>
      </p:bgPr>
    </p:bg>
    <p:spTree>
      <p:nvGrpSpPr>
        <p:cNvPr id="1" name=""/>
        <p:cNvGrpSpPr/>
        <p:nvPr/>
      </p:nvGrpSpPr>
      <p:grpSpPr>
        <a:xfrm>
          <a:off x="0" y="0"/>
          <a:ext cx="0" cy="0"/>
          <a:chOff x="0" y="0"/>
          <a:chExt cx="0" cy="0"/>
        </a:xfrm>
      </p:grpSpPr>
      <p:sp>
        <p:nvSpPr>
          <p:cNvPr id="2" name="Shape 0"/>
          <p:cNvSpPr/>
          <p:nvPr/>
        </p:nvSpPr>
        <p:spPr>
          <a:xfrm>
            <a:off x="0" y="0"/>
            <a:ext cx="12191695" cy="1051560"/>
          </a:xfrm>
          <a:prstGeom prst="rect">
            <a:avLst/>
          </a:prstGeom>
          <a:solidFill>
            <a:srgbClr val="990011"/>
          </a:solidFill>
          <a:ln/>
        </p:spPr>
      </p:sp>
      <p:sp>
        <p:nvSpPr>
          <p:cNvPr id="3" name="Shape 1"/>
          <p:cNvSpPr/>
          <p:nvPr/>
        </p:nvSpPr>
        <p:spPr>
          <a:xfrm>
            <a:off x="9265615" y="3931920"/>
            <a:ext cx="4754880" cy="4754880"/>
          </a:xfrm>
          <a:prstGeom prst="ellipse">
            <a:avLst/>
          </a:prstGeom>
          <a:solidFill>
            <a:srgbClr val="26305F"/>
          </a:solidFill>
          <a:ln/>
        </p:spPr>
      </p:sp>
      <p:sp>
        <p:nvSpPr>
          <p:cNvPr id="4" name="Shape 2"/>
          <p:cNvSpPr/>
          <p:nvPr/>
        </p:nvSpPr>
        <p:spPr>
          <a:xfrm>
            <a:off x="777240" y="1417320"/>
            <a:ext cx="1371600" cy="1371600"/>
          </a:xfrm>
          <a:prstGeom prst="ellipse">
            <a:avLst/>
          </a:prstGeom>
          <a:solidFill>
            <a:srgbClr val="FFFFFF"/>
          </a:solidFill>
          <a:ln/>
        </p:spPr>
      </p:sp>
      <p:pic>
        <p:nvPicPr>
          <p:cNvPr id="5" name="Image 0" descr="/home/claude/unpacked/word/media/image1.png">    </p:cNvPr>
          <p:cNvPicPr>
            <a:picLocks noChangeAspect="1"/>
          </p:cNvPicPr>
          <p:nvPr/>
        </p:nvPicPr>
        <p:blipFill>
          <a:blip r:embed="rId1"/>
          <a:stretch>
            <a:fillRect/>
          </a:stretch>
        </p:blipFill>
        <p:spPr>
          <a:xfrm>
            <a:off x="960120" y="1600200"/>
            <a:ext cx="1005840" cy="1005840"/>
          </a:xfrm>
          <a:prstGeom prst="rect">
            <a:avLst/>
          </a:prstGeom>
        </p:spPr>
      </p:pic>
      <p:sp>
        <p:nvSpPr>
          <p:cNvPr id="6" name="Text 3"/>
          <p:cNvSpPr/>
          <p:nvPr/>
        </p:nvSpPr>
        <p:spPr>
          <a:xfrm>
            <a:off x="2468880" y="1508760"/>
            <a:ext cx="9052560" cy="320040"/>
          </a:xfrm>
          <a:prstGeom prst="rect">
            <a:avLst/>
          </a:prstGeom>
          <a:noFill/>
          <a:ln/>
        </p:spPr>
        <p:txBody>
          <a:bodyPr wrap="square" rtlCol="0" anchor="ctr"/>
          <a:lstStyle/>
          <a:p>
            <a:pPr indent="0" marL="0">
              <a:buNone/>
            </a:pPr>
            <a:r>
              <a:rPr lang="en-US" sz="1300" b="1" spc="100" kern="0" dirty="0">
                <a:solidFill>
                  <a:srgbClr val="CADCFC"/>
                </a:solidFill>
                <a:latin typeface="Calibri" pitchFamily="34" charset="0"/>
                <a:ea typeface="Calibri" pitchFamily="34" charset="-122"/>
                <a:cs typeface="Calibri" pitchFamily="34" charset="-120"/>
              </a:rPr>
              <a:t>SCHOOL OF COMPUTER SCIENCE AND ENGINEERING</a:t>
            </a:r>
            <a:endParaRPr lang="en-US" sz="1300" dirty="0"/>
          </a:p>
        </p:txBody>
      </p:sp>
      <p:sp>
        <p:nvSpPr>
          <p:cNvPr id="7" name="Text 4"/>
          <p:cNvSpPr/>
          <p:nvPr/>
        </p:nvSpPr>
        <p:spPr>
          <a:xfrm>
            <a:off x="2468880" y="1810512"/>
            <a:ext cx="9052560" cy="32004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IILM University, Greater Noida, U.P.</a:t>
            </a:r>
            <a:endParaRPr lang="en-US" sz="1300" dirty="0"/>
          </a:p>
        </p:txBody>
      </p:sp>
      <p:sp>
        <p:nvSpPr>
          <p:cNvPr id="8" name="Text 5"/>
          <p:cNvSpPr/>
          <p:nvPr/>
        </p:nvSpPr>
        <p:spPr>
          <a:xfrm>
            <a:off x="777240" y="2788920"/>
            <a:ext cx="10607040" cy="82296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Java Full Stack Developer</a:t>
            </a:r>
            <a:endParaRPr lang="en-US" sz="4400" dirty="0"/>
          </a:p>
        </p:txBody>
      </p:sp>
      <p:sp>
        <p:nvSpPr>
          <p:cNvPr id="9" name="Text 6"/>
          <p:cNvSpPr/>
          <p:nvPr/>
        </p:nvSpPr>
        <p:spPr>
          <a:xfrm>
            <a:off x="777240" y="3520440"/>
            <a:ext cx="10607040" cy="502920"/>
          </a:xfrm>
          <a:prstGeom prst="rect">
            <a:avLst/>
          </a:prstGeom>
          <a:noFill/>
          <a:ln/>
        </p:spPr>
        <p:txBody>
          <a:bodyPr wrap="square" rtlCol="0" anchor="ctr"/>
          <a:lstStyle/>
          <a:p>
            <a:pPr indent="0" marL="0">
              <a:buNone/>
            </a:pPr>
            <a:r>
              <a:rPr lang="en-US" sz="2200" b="1" spc="300" kern="0" dirty="0">
                <a:solidFill>
                  <a:srgbClr val="F4B6B6"/>
                </a:solidFill>
                <a:latin typeface="Calibri" pitchFamily="34" charset="0"/>
                <a:ea typeface="Calibri" pitchFamily="34" charset="-122"/>
                <a:cs typeface="Calibri" pitchFamily="34" charset="-120"/>
              </a:rPr>
              <a:t>VIRTUAL INTERNSHIP</a:t>
            </a:r>
            <a:endParaRPr lang="en-US" sz="2200" dirty="0"/>
          </a:p>
        </p:txBody>
      </p:sp>
      <p:sp>
        <p:nvSpPr>
          <p:cNvPr id="10" name="Text 7"/>
          <p:cNvSpPr/>
          <p:nvPr/>
        </p:nvSpPr>
        <p:spPr>
          <a:xfrm>
            <a:off x="777240" y="4041648"/>
            <a:ext cx="10241280" cy="365760"/>
          </a:xfrm>
          <a:prstGeom prst="rect">
            <a:avLst/>
          </a:prstGeom>
          <a:noFill/>
          <a:ln/>
        </p:spPr>
        <p:txBody>
          <a:bodyPr wrap="square" rtlCol="0" anchor="ctr"/>
          <a:lstStyle/>
          <a:p>
            <a:pPr indent="0" marL="0">
              <a:buNone/>
            </a:pPr>
            <a:r>
              <a:rPr lang="en-US" sz="1300" i="1" dirty="0">
                <a:solidFill>
                  <a:srgbClr val="CADCFC"/>
                </a:solidFill>
                <a:latin typeface="Calibri" pitchFamily="34" charset="0"/>
                <a:ea typeface="Calibri" pitchFamily="34" charset="-122"/>
                <a:cs typeface="Calibri" pitchFamily="34" charset="-120"/>
              </a:rPr>
              <a:t>AICTE – National Internship Portal  |  in association with EduSkills Academy</a:t>
            </a:r>
            <a:endParaRPr lang="en-US" sz="1300" dirty="0"/>
          </a:p>
        </p:txBody>
      </p:sp>
      <p:sp>
        <p:nvSpPr>
          <p:cNvPr id="11" name="Shape 8"/>
          <p:cNvSpPr/>
          <p:nvPr/>
        </p:nvSpPr>
        <p:spPr>
          <a:xfrm>
            <a:off x="777240" y="4709160"/>
            <a:ext cx="3840480" cy="0"/>
          </a:xfrm>
          <a:prstGeom prst="line">
            <a:avLst/>
          </a:prstGeom>
          <a:noFill/>
          <a:ln w="12700">
            <a:solidFill>
              <a:srgbClr val="5567A8"/>
            </a:solidFill>
            <a:prstDash val="solid"/>
          </a:ln>
        </p:spPr>
      </p:sp>
      <p:sp>
        <p:nvSpPr>
          <p:cNvPr id="12" name="Text 9"/>
          <p:cNvSpPr/>
          <p:nvPr/>
        </p:nvSpPr>
        <p:spPr>
          <a:xfrm>
            <a:off x="777240" y="4892040"/>
            <a:ext cx="7315200" cy="73152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Rohan Singh</a:t>
            </a:r>
            <a:endParaRPr lang="en-US" sz="1600" dirty="0"/>
          </a:p>
          <a:p>
            <a:pPr indent="0" marL="0">
              <a:buNone/>
            </a:pPr>
            <a:r>
              <a:rPr lang="en-US" sz="1600" dirty="0">
                <a:solidFill>
                  <a:srgbClr val="FFFFFF"/>
                </a:solidFill>
                <a:latin typeface="Calibri" pitchFamily="34" charset="0"/>
                <a:ea typeface="Calibri" pitchFamily="34" charset="-122"/>
                <a:cs typeface="Calibri" pitchFamily="34" charset="-120"/>
              </a:rPr>
              <a:t>Roll No. 2410031588   •   B.Tech CSE   •   Batch 2026-27</a:t>
            </a:r>
            <a:endParaRPr lang="en-US" sz="1600" dirty="0"/>
          </a:p>
        </p:txBody>
      </p:sp>
      <p:sp>
        <p:nvSpPr>
          <p:cNvPr id="13" name="Text 10"/>
          <p:cNvSpPr/>
          <p:nvPr/>
        </p:nvSpPr>
        <p:spPr>
          <a:xfrm>
            <a:off x="777240" y="6263640"/>
            <a:ext cx="5486400" cy="365760"/>
          </a:xfrm>
          <a:prstGeom prst="rect">
            <a:avLst/>
          </a:prstGeom>
          <a:noFill/>
          <a:ln/>
        </p:spPr>
        <p:txBody>
          <a:bodyPr wrap="square" rtlCol="0" anchor="ctr"/>
          <a:lstStyle/>
          <a:p>
            <a:pPr indent="0" marL="0">
              <a:buNone/>
            </a:pPr>
            <a:r>
              <a:rPr lang="en-US" sz="1100" dirty="0">
                <a:solidFill>
                  <a:srgbClr val="9FB0DC"/>
                </a:solidFill>
                <a:latin typeface="Calibri" pitchFamily="34" charset="0"/>
                <a:ea typeface="Calibri" pitchFamily="34" charset="-122"/>
                <a:cs typeface="Calibri" pitchFamily="34" charset="-120"/>
              </a:rPr>
              <a:t>Internship Report — Presentation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6F5"/>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990011"/>
                </a:solidFill>
                <a:latin typeface="Calibri" pitchFamily="34" charset="0"/>
                <a:ea typeface="Calibri" pitchFamily="34" charset="-122"/>
                <a:cs typeface="Calibri" pitchFamily="34" charset="-120"/>
              </a:rPr>
              <a:t>OVERVIEW</a:t>
            </a:r>
            <a:endParaRPr lang="en-US" sz="1300" dirty="0"/>
          </a:p>
        </p:txBody>
      </p:sp>
      <p:sp>
        <p:nvSpPr>
          <p:cNvPr id="3" name="Text 1"/>
          <p:cNvSpPr/>
          <p:nvPr/>
        </p:nvSpPr>
        <p:spPr>
          <a:xfrm>
            <a:off x="548640" y="658368"/>
            <a:ext cx="10607040" cy="640080"/>
          </a:xfrm>
          <a:prstGeom prst="rect">
            <a:avLst/>
          </a:prstGeom>
          <a:noFill/>
          <a:ln/>
        </p:spPr>
        <p:txBody>
          <a:bodyPr wrap="square" rtlCol="0" anchor="ctr"/>
          <a:lstStyle/>
          <a:p>
            <a:pPr indent="0" marL="0">
              <a:buNone/>
            </a:pPr>
            <a:r>
              <a:rPr lang="en-US" sz="3000" b="1" dirty="0">
                <a:solidFill>
                  <a:srgbClr val="2F3C7E"/>
                </a:solidFill>
                <a:latin typeface="Cambria" pitchFamily="34" charset="0"/>
                <a:ea typeface="Cambria" pitchFamily="34" charset="-122"/>
                <a:cs typeface="Cambria" pitchFamily="34" charset="-120"/>
              </a:rPr>
              <a:t>What This Presentation Covers</a:t>
            </a:r>
            <a:endParaRPr lang="en-US" sz="3000" dirty="0"/>
          </a:p>
        </p:txBody>
      </p:sp>
      <p:sp>
        <p:nvSpPr>
          <p:cNvPr id="4" name="Shape 2"/>
          <p:cNvSpPr/>
          <p:nvPr/>
        </p:nvSpPr>
        <p:spPr>
          <a:xfrm>
            <a:off x="548640" y="1600200"/>
            <a:ext cx="5074920" cy="786384"/>
          </a:xfrm>
          <a:prstGeom prst="roundRect">
            <a:avLst>
              <a:gd name="adj" fmla="val 9302"/>
            </a:avLst>
          </a:prstGeom>
          <a:solidFill>
            <a:srgbClr val="FFFFFF"/>
          </a:solidFill>
          <a:ln w="12700">
            <a:solidFill>
              <a:srgbClr val="E6DFDC"/>
            </a:solidFill>
            <a:prstDash val="solid"/>
          </a:ln>
          <a:effectLst>
            <a:outerShdw sx="100000" sy="100000" kx="0" ky="0" algn="bl" rotWithShape="0" blurRad="76200" dist="25400" dir="5400000">
              <a:srgbClr val="000000">
                <a:alpha val="12000"/>
              </a:srgbClr>
            </a:outerShdw>
          </a:effectLst>
        </p:spPr>
      </p:sp>
      <p:sp>
        <p:nvSpPr>
          <p:cNvPr id="5" name="Text 3"/>
          <p:cNvSpPr/>
          <p:nvPr/>
        </p:nvSpPr>
        <p:spPr>
          <a:xfrm>
            <a:off x="713232" y="1600200"/>
            <a:ext cx="822960" cy="786384"/>
          </a:xfrm>
          <a:prstGeom prst="rect">
            <a:avLst/>
          </a:prstGeom>
          <a:noFill/>
          <a:ln/>
        </p:spPr>
        <p:txBody>
          <a:bodyPr wrap="square" rtlCol="0" anchor="ctr"/>
          <a:lstStyle/>
          <a:p>
            <a:pPr indent="0" marL="0">
              <a:buNone/>
            </a:pPr>
            <a:r>
              <a:rPr lang="en-US" sz="2400" b="1" dirty="0">
                <a:solidFill>
                  <a:srgbClr val="990011"/>
                </a:solidFill>
                <a:latin typeface="Cambria" pitchFamily="34" charset="0"/>
                <a:ea typeface="Cambria" pitchFamily="34" charset="-122"/>
                <a:cs typeface="Cambria" pitchFamily="34" charset="-120"/>
              </a:rPr>
              <a:t>01</a:t>
            </a:r>
            <a:endParaRPr lang="en-US" sz="2400" dirty="0"/>
          </a:p>
        </p:txBody>
      </p:sp>
      <p:sp>
        <p:nvSpPr>
          <p:cNvPr id="6" name="Text 4"/>
          <p:cNvSpPr/>
          <p:nvPr/>
        </p:nvSpPr>
        <p:spPr>
          <a:xfrm>
            <a:off x="1508760" y="1600200"/>
            <a:ext cx="3977640" cy="786384"/>
          </a:xfrm>
          <a:prstGeom prst="rect">
            <a:avLst/>
          </a:prstGeom>
          <a:noFill/>
          <a:ln/>
        </p:spPr>
        <p:txBody>
          <a:bodyPr wrap="square" rtlCol="0" anchor="ctr"/>
          <a:lstStyle/>
          <a:p>
            <a:pPr indent="0" marL="0">
              <a:buNone/>
            </a:pPr>
            <a:r>
              <a:rPr lang="en-US" sz="1500" b="1" dirty="0">
                <a:solidFill>
                  <a:srgbClr val="2F3C7E"/>
                </a:solidFill>
                <a:latin typeface="Calibri" pitchFamily="34" charset="0"/>
                <a:ea typeface="Calibri" pitchFamily="34" charset="-122"/>
                <a:cs typeface="Calibri" pitchFamily="34" charset="-120"/>
              </a:rPr>
              <a:t>Introduction</a:t>
            </a:r>
            <a:endParaRPr lang="en-US" sz="1500" dirty="0"/>
          </a:p>
        </p:txBody>
      </p:sp>
      <p:sp>
        <p:nvSpPr>
          <p:cNvPr id="7" name="Shape 5"/>
          <p:cNvSpPr/>
          <p:nvPr/>
        </p:nvSpPr>
        <p:spPr>
          <a:xfrm>
            <a:off x="548640" y="2551176"/>
            <a:ext cx="5074920" cy="786384"/>
          </a:xfrm>
          <a:prstGeom prst="roundRect">
            <a:avLst>
              <a:gd name="adj" fmla="val 9302"/>
            </a:avLst>
          </a:prstGeom>
          <a:solidFill>
            <a:srgbClr val="FFFFFF"/>
          </a:solidFill>
          <a:ln w="12700">
            <a:solidFill>
              <a:srgbClr val="E6DFDC"/>
            </a:solidFill>
            <a:prstDash val="solid"/>
          </a:ln>
          <a:effectLst>
            <a:outerShdw sx="100000" sy="100000" kx="0" ky="0" algn="bl" rotWithShape="0" blurRad="76200" dist="25400" dir="5400000">
              <a:srgbClr val="000000">
                <a:alpha val="12000"/>
              </a:srgbClr>
            </a:outerShdw>
          </a:effectLst>
        </p:spPr>
      </p:sp>
      <p:sp>
        <p:nvSpPr>
          <p:cNvPr id="8" name="Text 6"/>
          <p:cNvSpPr/>
          <p:nvPr/>
        </p:nvSpPr>
        <p:spPr>
          <a:xfrm>
            <a:off x="713232" y="2551176"/>
            <a:ext cx="822960" cy="786384"/>
          </a:xfrm>
          <a:prstGeom prst="rect">
            <a:avLst/>
          </a:prstGeom>
          <a:noFill/>
          <a:ln/>
        </p:spPr>
        <p:txBody>
          <a:bodyPr wrap="square" rtlCol="0" anchor="ctr"/>
          <a:lstStyle/>
          <a:p>
            <a:pPr indent="0" marL="0">
              <a:buNone/>
            </a:pPr>
            <a:r>
              <a:rPr lang="en-US" sz="2400" b="1" dirty="0">
                <a:solidFill>
                  <a:srgbClr val="990011"/>
                </a:solidFill>
                <a:latin typeface="Cambria" pitchFamily="34" charset="0"/>
                <a:ea typeface="Cambria" pitchFamily="34" charset="-122"/>
                <a:cs typeface="Cambria" pitchFamily="34" charset="-120"/>
              </a:rPr>
              <a:t>02</a:t>
            </a:r>
            <a:endParaRPr lang="en-US" sz="2400" dirty="0"/>
          </a:p>
        </p:txBody>
      </p:sp>
      <p:sp>
        <p:nvSpPr>
          <p:cNvPr id="9" name="Text 7"/>
          <p:cNvSpPr/>
          <p:nvPr/>
        </p:nvSpPr>
        <p:spPr>
          <a:xfrm>
            <a:off x="1508760" y="2551176"/>
            <a:ext cx="3977640" cy="786384"/>
          </a:xfrm>
          <a:prstGeom prst="rect">
            <a:avLst/>
          </a:prstGeom>
          <a:noFill/>
          <a:ln/>
        </p:spPr>
        <p:txBody>
          <a:bodyPr wrap="square" rtlCol="0" anchor="ctr"/>
          <a:lstStyle/>
          <a:p>
            <a:pPr indent="0" marL="0">
              <a:buNone/>
            </a:pPr>
            <a:r>
              <a:rPr lang="en-US" sz="1500" b="1" dirty="0">
                <a:solidFill>
                  <a:srgbClr val="2F3C7E"/>
                </a:solidFill>
                <a:latin typeface="Calibri" pitchFamily="34" charset="0"/>
                <a:ea typeface="Calibri" pitchFamily="34" charset="-122"/>
                <a:cs typeface="Calibri" pitchFamily="34" charset="-120"/>
              </a:rPr>
              <a:t>Organization Profile</a:t>
            </a:r>
            <a:endParaRPr lang="en-US" sz="1500" dirty="0"/>
          </a:p>
        </p:txBody>
      </p:sp>
      <p:sp>
        <p:nvSpPr>
          <p:cNvPr id="10" name="Shape 8"/>
          <p:cNvSpPr/>
          <p:nvPr/>
        </p:nvSpPr>
        <p:spPr>
          <a:xfrm>
            <a:off x="548640" y="3502152"/>
            <a:ext cx="5074920" cy="786384"/>
          </a:xfrm>
          <a:prstGeom prst="roundRect">
            <a:avLst>
              <a:gd name="adj" fmla="val 9302"/>
            </a:avLst>
          </a:prstGeom>
          <a:solidFill>
            <a:srgbClr val="FFFFFF"/>
          </a:solidFill>
          <a:ln w="12700">
            <a:solidFill>
              <a:srgbClr val="E6DFDC"/>
            </a:solidFill>
            <a:prstDash val="solid"/>
          </a:ln>
          <a:effectLst>
            <a:outerShdw sx="100000" sy="100000" kx="0" ky="0" algn="bl" rotWithShape="0" blurRad="76200" dist="25400" dir="5400000">
              <a:srgbClr val="000000">
                <a:alpha val="12000"/>
              </a:srgbClr>
            </a:outerShdw>
          </a:effectLst>
        </p:spPr>
      </p:sp>
      <p:sp>
        <p:nvSpPr>
          <p:cNvPr id="11" name="Text 9"/>
          <p:cNvSpPr/>
          <p:nvPr/>
        </p:nvSpPr>
        <p:spPr>
          <a:xfrm>
            <a:off x="713232" y="3502152"/>
            <a:ext cx="822960" cy="786384"/>
          </a:xfrm>
          <a:prstGeom prst="rect">
            <a:avLst/>
          </a:prstGeom>
          <a:noFill/>
          <a:ln/>
        </p:spPr>
        <p:txBody>
          <a:bodyPr wrap="square" rtlCol="0" anchor="ctr"/>
          <a:lstStyle/>
          <a:p>
            <a:pPr indent="0" marL="0">
              <a:buNone/>
            </a:pPr>
            <a:r>
              <a:rPr lang="en-US" sz="2400" b="1" dirty="0">
                <a:solidFill>
                  <a:srgbClr val="990011"/>
                </a:solidFill>
                <a:latin typeface="Cambria" pitchFamily="34" charset="0"/>
                <a:ea typeface="Cambria" pitchFamily="34" charset="-122"/>
                <a:cs typeface="Cambria" pitchFamily="34" charset="-120"/>
              </a:rPr>
              <a:t>03</a:t>
            </a:r>
            <a:endParaRPr lang="en-US" sz="2400" dirty="0"/>
          </a:p>
        </p:txBody>
      </p:sp>
      <p:sp>
        <p:nvSpPr>
          <p:cNvPr id="12" name="Text 10"/>
          <p:cNvSpPr/>
          <p:nvPr/>
        </p:nvSpPr>
        <p:spPr>
          <a:xfrm>
            <a:off x="1508760" y="3502152"/>
            <a:ext cx="3977640" cy="786384"/>
          </a:xfrm>
          <a:prstGeom prst="rect">
            <a:avLst/>
          </a:prstGeom>
          <a:noFill/>
          <a:ln/>
        </p:spPr>
        <p:txBody>
          <a:bodyPr wrap="square" rtlCol="0" anchor="ctr"/>
          <a:lstStyle/>
          <a:p>
            <a:pPr indent="0" marL="0">
              <a:buNone/>
            </a:pPr>
            <a:r>
              <a:rPr lang="en-US" sz="1500" b="1" dirty="0">
                <a:solidFill>
                  <a:srgbClr val="2F3C7E"/>
                </a:solidFill>
                <a:latin typeface="Calibri" pitchFamily="34" charset="0"/>
                <a:ea typeface="Calibri" pitchFamily="34" charset="-122"/>
                <a:cs typeface="Calibri" pitchFamily="34" charset="-120"/>
              </a:rPr>
              <a:t>Problem Statement</a:t>
            </a:r>
            <a:endParaRPr lang="en-US" sz="1500" dirty="0"/>
          </a:p>
        </p:txBody>
      </p:sp>
      <p:sp>
        <p:nvSpPr>
          <p:cNvPr id="13" name="Shape 11"/>
          <p:cNvSpPr/>
          <p:nvPr/>
        </p:nvSpPr>
        <p:spPr>
          <a:xfrm>
            <a:off x="548640" y="4453128"/>
            <a:ext cx="5074920" cy="786384"/>
          </a:xfrm>
          <a:prstGeom prst="roundRect">
            <a:avLst>
              <a:gd name="adj" fmla="val 9302"/>
            </a:avLst>
          </a:prstGeom>
          <a:solidFill>
            <a:srgbClr val="FFFFFF"/>
          </a:solidFill>
          <a:ln w="12700">
            <a:solidFill>
              <a:srgbClr val="E6DFDC"/>
            </a:solidFill>
            <a:prstDash val="solid"/>
          </a:ln>
          <a:effectLst>
            <a:outerShdw sx="100000" sy="100000" kx="0" ky="0" algn="bl" rotWithShape="0" blurRad="76200" dist="25400" dir="5400000">
              <a:srgbClr val="000000">
                <a:alpha val="12000"/>
              </a:srgbClr>
            </a:outerShdw>
          </a:effectLst>
        </p:spPr>
      </p:sp>
      <p:sp>
        <p:nvSpPr>
          <p:cNvPr id="14" name="Text 12"/>
          <p:cNvSpPr/>
          <p:nvPr/>
        </p:nvSpPr>
        <p:spPr>
          <a:xfrm>
            <a:off x="713232" y="4453128"/>
            <a:ext cx="822960" cy="786384"/>
          </a:xfrm>
          <a:prstGeom prst="rect">
            <a:avLst/>
          </a:prstGeom>
          <a:noFill/>
          <a:ln/>
        </p:spPr>
        <p:txBody>
          <a:bodyPr wrap="square" rtlCol="0" anchor="ctr"/>
          <a:lstStyle/>
          <a:p>
            <a:pPr indent="0" marL="0">
              <a:buNone/>
            </a:pPr>
            <a:r>
              <a:rPr lang="en-US" sz="2400" b="1" dirty="0">
                <a:solidFill>
                  <a:srgbClr val="990011"/>
                </a:solidFill>
                <a:latin typeface="Cambria" pitchFamily="34" charset="0"/>
                <a:ea typeface="Cambria" pitchFamily="34" charset="-122"/>
                <a:cs typeface="Cambria" pitchFamily="34" charset="-120"/>
              </a:rPr>
              <a:t>04</a:t>
            </a:r>
            <a:endParaRPr lang="en-US" sz="2400" dirty="0"/>
          </a:p>
        </p:txBody>
      </p:sp>
      <p:sp>
        <p:nvSpPr>
          <p:cNvPr id="15" name="Text 13"/>
          <p:cNvSpPr/>
          <p:nvPr/>
        </p:nvSpPr>
        <p:spPr>
          <a:xfrm>
            <a:off x="1508760" y="4453128"/>
            <a:ext cx="3977640" cy="786384"/>
          </a:xfrm>
          <a:prstGeom prst="rect">
            <a:avLst/>
          </a:prstGeom>
          <a:noFill/>
          <a:ln/>
        </p:spPr>
        <p:txBody>
          <a:bodyPr wrap="square" rtlCol="0" anchor="ctr"/>
          <a:lstStyle/>
          <a:p>
            <a:pPr indent="0" marL="0">
              <a:buNone/>
            </a:pPr>
            <a:r>
              <a:rPr lang="en-US" sz="1500" b="1" dirty="0">
                <a:solidFill>
                  <a:srgbClr val="2F3C7E"/>
                </a:solidFill>
                <a:latin typeface="Calibri" pitchFamily="34" charset="0"/>
                <a:ea typeface="Calibri" pitchFamily="34" charset="-122"/>
                <a:cs typeface="Calibri" pitchFamily="34" charset="-120"/>
              </a:rPr>
              <a:t>Project Objectives</a:t>
            </a:r>
            <a:endParaRPr lang="en-US" sz="1500" dirty="0"/>
          </a:p>
        </p:txBody>
      </p:sp>
      <p:sp>
        <p:nvSpPr>
          <p:cNvPr id="16" name="Shape 14"/>
          <p:cNvSpPr/>
          <p:nvPr/>
        </p:nvSpPr>
        <p:spPr>
          <a:xfrm>
            <a:off x="548640" y="5404104"/>
            <a:ext cx="5074920" cy="786384"/>
          </a:xfrm>
          <a:prstGeom prst="roundRect">
            <a:avLst>
              <a:gd name="adj" fmla="val 9302"/>
            </a:avLst>
          </a:prstGeom>
          <a:solidFill>
            <a:srgbClr val="FFFFFF"/>
          </a:solidFill>
          <a:ln w="12700">
            <a:solidFill>
              <a:srgbClr val="E6DFDC"/>
            </a:solidFill>
            <a:prstDash val="solid"/>
          </a:ln>
          <a:effectLst>
            <a:outerShdw sx="100000" sy="100000" kx="0" ky="0" algn="bl" rotWithShape="0" blurRad="76200" dist="25400" dir="5400000">
              <a:srgbClr val="000000">
                <a:alpha val="12000"/>
              </a:srgbClr>
            </a:outerShdw>
          </a:effectLst>
        </p:spPr>
      </p:sp>
      <p:sp>
        <p:nvSpPr>
          <p:cNvPr id="17" name="Text 15"/>
          <p:cNvSpPr/>
          <p:nvPr/>
        </p:nvSpPr>
        <p:spPr>
          <a:xfrm>
            <a:off x="713232" y="5404104"/>
            <a:ext cx="822960" cy="786384"/>
          </a:xfrm>
          <a:prstGeom prst="rect">
            <a:avLst/>
          </a:prstGeom>
          <a:noFill/>
          <a:ln/>
        </p:spPr>
        <p:txBody>
          <a:bodyPr wrap="square" rtlCol="0" anchor="ctr"/>
          <a:lstStyle/>
          <a:p>
            <a:pPr indent="0" marL="0">
              <a:buNone/>
            </a:pPr>
            <a:r>
              <a:rPr lang="en-US" sz="2400" b="1" dirty="0">
                <a:solidFill>
                  <a:srgbClr val="990011"/>
                </a:solidFill>
                <a:latin typeface="Cambria" pitchFamily="34" charset="0"/>
                <a:ea typeface="Cambria" pitchFamily="34" charset="-122"/>
                <a:cs typeface="Cambria" pitchFamily="34" charset="-120"/>
              </a:rPr>
              <a:t>05</a:t>
            </a:r>
            <a:endParaRPr lang="en-US" sz="2400" dirty="0"/>
          </a:p>
        </p:txBody>
      </p:sp>
      <p:sp>
        <p:nvSpPr>
          <p:cNvPr id="18" name="Text 16"/>
          <p:cNvSpPr/>
          <p:nvPr/>
        </p:nvSpPr>
        <p:spPr>
          <a:xfrm>
            <a:off x="1508760" y="5404104"/>
            <a:ext cx="3977640" cy="786384"/>
          </a:xfrm>
          <a:prstGeom prst="rect">
            <a:avLst/>
          </a:prstGeom>
          <a:noFill/>
          <a:ln/>
        </p:spPr>
        <p:txBody>
          <a:bodyPr wrap="square" rtlCol="0" anchor="ctr"/>
          <a:lstStyle/>
          <a:p>
            <a:pPr indent="0" marL="0">
              <a:buNone/>
            </a:pPr>
            <a:r>
              <a:rPr lang="en-US" sz="1500" b="1" dirty="0">
                <a:solidFill>
                  <a:srgbClr val="2F3C7E"/>
                </a:solidFill>
                <a:latin typeface="Calibri" pitchFamily="34" charset="0"/>
                <a:ea typeface="Calibri" pitchFamily="34" charset="-122"/>
                <a:cs typeface="Calibri" pitchFamily="34" charset="-120"/>
              </a:rPr>
              <a:t>Scope of the Project</a:t>
            </a:r>
            <a:endParaRPr lang="en-US" sz="1500" dirty="0"/>
          </a:p>
        </p:txBody>
      </p:sp>
      <p:sp>
        <p:nvSpPr>
          <p:cNvPr id="19" name="Shape 17"/>
          <p:cNvSpPr/>
          <p:nvPr/>
        </p:nvSpPr>
        <p:spPr>
          <a:xfrm>
            <a:off x="5943600" y="1600200"/>
            <a:ext cx="5074920" cy="786384"/>
          </a:xfrm>
          <a:prstGeom prst="roundRect">
            <a:avLst>
              <a:gd name="adj" fmla="val 9302"/>
            </a:avLst>
          </a:prstGeom>
          <a:solidFill>
            <a:srgbClr val="FFFFFF"/>
          </a:solidFill>
          <a:ln w="12700">
            <a:solidFill>
              <a:srgbClr val="E6DFDC"/>
            </a:solidFill>
            <a:prstDash val="solid"/>
          </a:ln>
          <a:effectLst>
            <a:outerShdw sx="100000" sy="100000" kx="0" ky="0" algn="bl" rotWithShape="0" blurRad="76200" dist="25400" dir="5400000">
              <a:srgbClr val="000000">
                <a:alpha val="12000"/>
              </a:srgbClr>
            </a:outerShdw>
          </a:effectLst>
        </p:spPr>
      </p:sp>
      <p:sp>
        <p:nvSpPr>
          <p:cNvPr id="20" name="Text 18"/>
          <p:cNvSpPr/>
          <p:nvPr/>
        </p:nvSpPr>
        <p:spPr>
          <a:xfrm>
            <a:off x="6108192" y="1600200"/>
            <a:ext cx="822960" cy="786384"/>
          </a:xfrm>
          <a:prstGeom prst="rect">
            <a:avLst/>
          </a:prstGeom>
          <a:noFill/>
          <a:ln/>
        </p:spPr>
        <p:txBody>
          <a:bodyPr wrap="square" rtlCol="0" anchor="ctr"/>
          <a:lstStyle/>
          <a:p>
            <a:pPr indent="0" marL="0">
              <a:buNone/>
            </a:pPr>
            <a:r>
              <a:rPr lang="en-US" sz="2400" b="1" dirty="0">
                <a:solidFill>
                  <a:srgbClr val="990011"/>
                </a:solidFill>
                <a:latin typeface="Cambria" pitchFamily="34" charset="0"/>
                <a:ea typeface="Cambria" pitchFamily="34" charset="-122"/>
                <a:cs typeface="Cambria" pitchFamily="34" charset="-120"/>
              </a:rPr>
              <a:t>06</a:t>
            </a:r>
            <a:endParaRPr lang="en-US" sz="2400" dirty="0"/>
          </a:p>
        </p:txBody>
      </p:sp>
      <p:sp>
        <p:nvSpPr>
          <p:cNvPr id="21" name="Text 19"/>
          <p:cNvSpPr/>
          <p:nvPr/>
        </p:nvSpPr>
        <p:spPr>
          <a:xfrm>
            <a:off x="6903720" y="1600200"/>
            <a:ext cx="3977640" cy="786384"/>
          </a:xfrm>
          <a:prstGeom prst="rect">
            <a:avLst/>
          </a:prstGeom>
          <a:noFill/>
          <a:ln/>
        </p:spPr>
        <p:txBody>
          <a:bodyPr wrap="square" rtlCol="0" anchor="ctr"/>
          <a:lstStyle/>
          <a:p>
            <a:pPr indent="0" marL="0">
              <a:buNone/>
            </a:pPr>
            <a:r>
              <a:rPr lang="en-US" sz="1500" b="1" dirty="0">
                <a:solidFill>
                  <a:srgbClr val="2F3C7E"/>
                </a:solidFill>
                <a:latin typeface="Calibri" pitchFamily="34" charset="0"/>
                <a:ea typeface="Calibri" pitchFamily="34" charset="-122"/>
                <a:cs typeface="Calibri" pitchFamily="34" charset="-120"/>
              </a:rPr>
              <a:t>Technologies &amp; Tools</a:t>
            </a:r>
            <a:endParaRPr lang="en-US" sz="1500" dirty="0"/>
          </a:p>
        </p:txBody>
      </p:sp>
      <p:sp>
        <p:nvSpPr>
          <p:cNvPr id="22" name="Shape 20"/>
          <p:cNvSpPr/>
          <p:nvPr/>
        </p:nvSpPr>
        <p:spPr>
          <a:xfrm>
            <a:off x="5943600" y="2551176"/>
            <a:ext cx="5074920" cy="786384"/>
          </a:xfrm>
          <a:prstGeom prst="roundRect">
            <a:avLst>
              <a:gd name="adj" fmla="val 9302"/>
            </a:avLst>
          </a:prstGeom>
          <a:solidFill>
            <a:srgbClr val="FFFFFF"/>
          </a:solidFill>
          <a:ln w="12700">
            <a:solidFill>
              <a:srgbClr val="E6DFDC"/>
            </a:solidFill>
            <a:prstDash val="solid"/>
          </a:ln>
          <a:effectLst>
            <a:outerShdw sx="100000" sy="100000" kx="0" ky="0" algn="bl" rotWithShape="0" blurRad="76200" dist="25400" dir="5400000">
              <a:srgbClr val="000000">
                <a:alpha val="12000"/>
              </a:srgbClr>
            </a:outerShdw>
          </a:effectLst>
        </p:spPr>
      </p:sp>
      <p:sp>
        <p:nvSpPr>
          <p:cNvPr id="23" name="Text 21"/>
          <p:cNvSpPr/>
          <p:nvPr/>
        </p:nvSpPr>
        <p:spPr>
          <a:xfrm>
            <a:off x="6108192" y="2551176"/>
            <a:ext cx="822960" cy="786384"/>
          </a:xfrm>
          <a:prstGeom prst="rect">
            <a:avLst/>
          </a:prstGeom>
          <a:noFill/>
          <a:ln/>
        </p:spPr>
        <p:txBody>
          <a:bodyPr wrap="square" rtlCol="0" anchor="ctr"/>
          <a:lstStyle/>
          <a:p>
            <a:pPr indent="0" marL="0">
              <a:buNone/>
            </a:pPr>
            <a:r>
              <a:rPr lang="en-US" sz="2400" b="1" dirty="0">
                <a:solidFill>
                  <a:srgbClr val="990011"/>
                </a:solidFill>
                <a:latin typeface="Cambria" pitchFamily="34" charset="0"/>
                <a:ea typeface="Cambria" pitchFamily="34" charset="-122"/>
                <a:cs typeface="Cambria" pitchFamily="34" charset="-120"/>
              </a:rPr>
              <a:t>07</a:t>
            </a:r>
            <a:endParaRPr lang="en-US" sz="2400" dirty="0"/>
          </a:p>
        </p:txBody>
      </p:sp>
      <p:sp>
        <p:nvSpPr>
          <p:cNvPr id="24" name="Text 22"/>
          <p:cNvSpPr/>
          <p:nvPr/>
        </p:nvSpPr>
        <p:spPr>
          <a:xfrm>
            <a:off x="6903720" y="2551176"/>
            <a:ext cx="3977640" cy="786384"/>
          </a:xfrm>
          <a:prstGeom prst="rect">
            <a:avLst/>
          </a:prstGeom>
          <a:noFill/>
          <a:ln/>
        </p:spPr>
        <p:txBody>
          <a:bodyPr wrap="square" rtlCol="0" anchor="ctr"/>
          <a:lstStyle/>
          <a:p>
            <a:pPr indent="0" marL="0">
              <a:buNone/>
            </a:pPr>
            <a:r>
              <a:rPr lang="en-US" sz="1500" b="1" dirty="0">
                <a:solidFill>
                  <a:srgbClr val="2F3C7E"/>
                </a:solidFill>
                <a:latin typeface="Calibri" pitchFamily="34" charset="0"/>
                <a:ea typeface="Calibri" pitchFamily="34" charset="-122"/>
                <a:cs typeface="Calibri" pitchFamily="34" charset="-120"/>
              </a:rPr>
              <a:t>System Architecture</a:t>
            </a:r>
            <a:endParaRPr lang="en-US" sz="1500" dirty="0"/>
          </a:p>
        </p:txBody>
      </p:sp>
      <p:sp>
        <p:nvSpPr>
          <p:cNvPr id="25" name="Shape 23"/>
          <p:cNvSpPr/>
          <p:nvPr/>
        </p:nvSpPr>
        <p:spPr>
          <a:xfrm>
            <a:off x="5943600" y="3502152"/>
            <a:ext cx="5074920" cy="786384"/>
          </a:xfrm>
          <a:prstGeom prst="roundRect">
            <a:avLst>
              <a:gd name="adj" fmla="val 9302"/>
            </a:avLst>
          </a:prstGeom>
          <a:solidFill>
            <a:srgbClr val="FFFFFF"/>
          </a:solidFill>
          <a:ln w="12700">
            <a:solidFill>
              <a:srgbClr val="E6DFDC"/>
            </a:solidFill>
            <a:prstDash val="solid"/>
          </a:ln>
          <a:effectLst>
            <a:outerShdw sx="100000" sy="100000" kx="0" ky="0" algn="bl" rotWithShape="0" blurRad="76200" dist="25400" dir="5400000">
              <a:srgbClr val="000000">
                <a:alpha val="12000"/>
              </a:srgbClr>
            </a:outerShdw>
          </a:effectLst>
        </p:spPr>
      </p:sp>
      <p:sp>
        <p:nvSpPr>
          <p:cNvPr id="26" name="Text 24"/>
          <p:cNvSpPr/>
          <p:nvPr/>
        </p:nvSpPr>
        <p:spPr>
          <a:xfrm>
            <a:off x="6108192" y="3502152"/>
            <a:ext cx="822960" cy="786384"/>
          </a:xfrm>
          <a:prstGeom prst="rect">
            <a:avLst/>
          </a:prstGeom>
          <a:noFill/>
          <a:ln/>
        </p:spPr>
        <p:txBody>
          <a:bodyPr wrap="square" rtlCol="0" anchor="ctr"/>
          <a:lstStyle/>
          <a:p>
            <a:pPr indent="0" marL="0">
              <a:buNone/>
            </a:pPr>
            <a:r>
              <a:rPr lang="en-US" sz="2400" b="1" dirty="0">
                <a:solidFill>
                  <a:srgbClr val="990011"/>
                </a:solidFill>
                <a:latin typeface="Cambria" pitchFamily="34" charset="0"/>
                <a:ea typeface="Cambria" pitchFamily="34" charset="-122"/>
                <a:cs typeface="Cambria" pitchFamily="34" charset="-120"/>
              </a:rPr>
              <a:t>08</a:t>
            </a:r>
            <a:endParaRPr lang="en-US" sz="2400" dirty="0"/>
          </a:p>
        </p:txBody>
      </p:sp>
      <p:sp>
        <p:nvSpPr>
          <p:cNvPr id="27" name="Text 25"/>
          <p:cNvSpPr/>
          <p:nvPr/>
        </p:nvSpPr>
        <p:spPr>
          <a:xfrm>
            <a:off x="6903720" y="3502152"/>
            <a:ext cx="3977640" cy="786384"/>
          </a:xfrm>
          <a:prstGeom prst="rect">
            <a:avLst/>
          </a:prstGeom>
          <a:noFill/>
          <a:ln/>
        </p:spPr>
        <p:txBody>
          <a:bodyPr wrap="square" rtlCol="0" anchor="ctr"/>
          <a:lstStyle/>
          <a:p>
            <a:pPr indent="0" marL="0">
              <a:buNone/>
            </a:pPr>
            <a:r>
              <a:rPr lang="en-US" sz="1500" b="1" dirty="0">
                <a:solidFill>
                  <a:srgbClr val="2F3C7E"/>
                </a:solidFill>
                <a:latin typeface="Calibri" pitchFamily="34" charset="0"/>
                <a:ea typeface="Calibri" pitchFamily="34" charset="-122"/>
                <a:cs typeface="Calibri" pitchFamily="34" charset="-120"/>
              </a:rPr>
              <a:t>Methodology</a:t>
            </a:r>
            <a:endParaRPr lang="en-US" sz="1500" dirty="0"/>
          </a:p>
        </p:txBody>
      </p:sp>
      <p:sp>
        <p:nvSpPr>
          <p:cNvPr id="28" name="Shape 26"/>
          <p:cNvSpPr/>
          <p:nvPr/>
        </p:nvSpPr>
        <p:spPr>
          <a:xfrm>
            <a:off x="5943600" y="4453128"/>
            <a:ext cx="5074920" cy="786384"/>
          </a:xfrm>
          <a:prstGeom prst="roundRect">
            <a:avLst>
              <a:gd name="adj" fmla="val 9302"/>
            </a:avLst>
          </a:prstGeom>
          <a:solidFill>
            <a:srgbClr val="FFFFFF"/>
          </a:solidFill>
          <a:ln w="12700">
            <a:solidFill>
              <a:srgbClr val="E6DFDC"/>
            </a:solidFill>
            <a:prstDash val="solid"/>
          </a:ln>
          <a:effectLst>
            <a:outerShdw sx="100000" sy="100000" kx="0" ky="0" algn="bl" rotWithShape="0" blurRad="76200" dist="25400" dir="5400000">
              <a:srgbClr val="000000">
                <a:alpha val="12000"/>
              </a:srgbClr>
            </a:outerShdw>
          </a:effectLst>
        </p:spPr>
      </p:sp>
      <p:sp>
        <p:nvSpPr>
          <p:cNvPr id="29" name="Text 27"/>
          <p:cNvSpPr/>
          <p:nvPr/>
        </p:nvSpPr>
        <p:spPr>
          <a:xfrm>
            <a:off x="6108192" y="4453128"/>
            <a:ext cx="822960" cy="786384"/>
          </a:xfrm>
          <a:prstGeom prst="rect">
            <a:avLst/>
          </a:prstGeom>
          <a:noFill/>
          <a:ln/>
        </p:spPr>
        <p:txBody>
          <a:bodyPr wrap="square" rtlCol="0" anchor="ctr"/>
          <a:lstStyle/>
          <a:p>
            <a:pPr indent="0" marL="0">
              <a:buNone/>
            </a:pPr>
            <a:r>
              <a:rPr lang="en-US" sz="2400" b="1" dirty="0">
                <a:solidFill>
                  <a:srgbClr val="990011"/>
                </a:solidFill>
                <a:latin typeface="Cambria" pitchFamily="34" charset="0"/>
                <a:ea typeface="Cambria" pitchFamily="34" charset="-122"/>
                <a:cs typeface="Cambria" pitchFamily="34" charset="-120"/>
              </a:rPr>
              <a:t>09</a:t>
            </a:r>
            <a:endParaRPr lang="en-US" sz="2400" dirty="0"/>
          </a:p>
        </p:txBody>
      </p:sp>
      <p:sp>
        <p:nvSpPr>
          <p:cNvPr id="30" name="Text 28"/>
          <p:cNvSpPr/>
          <p:nvPr/>
        </p:nvSpPr>
        <p:spPr>
          <a:xfrm>
            <a:off x="6903720" y="4453128"/>
            <a:ext cx="3977640" cy="786384"/>
          </a:xfrm>
          <a:prstGeom prst="rect">
            <a:avLst/>
          </a:prstGeom>
          <a:noFill/>
          <a:ln/>
        </p:spPr>
        <p:txBody>
          <a:bodyPr wrap="square" rtlCol="0" anchor="ctr"/>
          <a:lstStyle/>
          <a:p>
            <a:pPr indent="0" marL="0">
              <a:buNone/>
            </a:pPr>
            <a:r>
              <a:rPr lang="en-US" sz="1500" b="1" dirty="0">
                <a:solidFill>
                  <a:srgbClr val="2F3C7E"/>
                </a:solidFill>
                <a:latin typeface="Calibri" pitchFamily="34" charset="0"/>
                <a:ea typeface="Calibri" pitchFamily="34" charset="-122"/>
                <a:cs typeface="Calibri" pitchFamily="34" charset="-120"/>
              </a:rPr>
              <a:t>Expected Outcomes</a:t>
            </a:r>
            <a:endParaRPr lang="en-US" sz="1500" dirty="0"/>
          </a:p>
        </p:txBody>
      </p:sp>
      <p:sp>
        <p:nvSpPr>
          <p:cNvPr id="31" name="Shape 29"/>
          <p:cNvSpPr/>
          <p:nvPr/>
        </p:nvSpPr>
        <p:spPr>
          <a:xfrm>
            <a:off x="5943600" y="5404104"/>
            <a:ext cx="5074920" cy="786384"/>
          </a:xfrm>
          <a:prstGeom prst="roundRect">
            <a:avLst>
              <a:gd name="adj" fmla="val 9302"/>
            </a:avLst>
          </a:prstGeom>
          <a:solidFill>
            <a:srgbClr val="FFFFFF"/>
          </a:solidFill>
          <a:ln w="12700">
            <a:solidFill>
              <a:srgbClr val="E6DFDC"/>
            </a:solidFill>
            <a:prstDash val="solid"/>
          </a:ln>
          <a:effectLst>
            <a:outerShdw sx="100000" sy="100000" kx="0" ky="0" algn="bl" rotWithShape="0" blurRad="76200" dist="25400" dir="5400000">
              <a:srgbClr val="000000">
                <a:alpha val="12000"/>
              </a:srgbClr>
            </a:outerShdw>
          </a:effectLst>
        </p:spPr>
      </p:sp>
      <p:sp>
        <p:nvSpPr>
          <p:cNvPr id="32" name="Text 30"/>
          <p:cNvSpPr/>
          <p:nvPr/>
        </p:nvSpPr>
        <p:spPr>
          <a:xfrm>
            <a:off x="6108192" y="5404104"/>
            <a:ext cx="822960" cy="786384"/>
          </a:xfrm>
          <a:prstGeom prst="rect">
            <a:avLst/>
          </a:prstGeom>
          <a:noFill/>
          <a:ln/>
        </p:spPr>
        <p:txBody>
          <a:bodyPr wrap="square" rtlCol="0" anchor="ctr"/>
          <a:lstStyle/>
          <a:p>
            <a:pPr indent="0" marL="0">
              <a:buNone/>
            </a:pPr>
            <a:r>
              <a:rPr lang="en-US" sz="2400" b="1" dirty="0">
                <a:solidFill>
                  <a:srgbClr val="990011"/>
                </a:solidFill>
                <a:latin typeface="Cambria" pitchFamily="34" charset="0"/>
                <a:ea typeface="Cambria" pitchFamily="34" charset="-122"/>
                <a:cs typeface="Cambria" pitchFamily="34" charset="-120"/>
              </a:rPr>
              <a:t>10</a:t>
            </a:r>
            <a:endParaRPr lang="en-US" sz="2400" dirty="0"/>
          </a:p>
        </p:txBody>
      </p:sp>
      <p:sp>
        <p:nvSpPr>
          <p:cNvPr id="33" name="Text 31"/>
          <p:cNvSpPr/>
          <p:nvPr/>
        </p:nvSpPr>
        <p:spPr>
          <a:xfrm>
            <a:off x="6903720" y="5404104"/>
            <a:ext cx="3977640" cy="786384"/>
          </a:xfrm>
          <a:prstGeom prst="rect">
            <a:avLst/>
          </a:prstGeom>
          <a:noFill/>
          <a:ln/>
        </p:spPr>
        <p:txBody>
          <a:bodyPr wrap="square" rtlCol="0" anchor="ctr"/>
          <a:lstStyle/>
          <a:p>
            <a:pPr indent="0" marL="0">
              <a:buNone/>
            </a:pPr>
            <a:r>
              <a:rPr lang="en-US" sz="1500" b="1" dirty="0">
                <a:solidFill>
                  <a:srgbClr val="2F3C7E"/>
                </a:solidFill>
                <a:latin typeface="Calibri" pitchFamily="34" charset="0"/>
                <a:ea typeface="Calibri" pitchFamily="34" charset="-122"/>
                <a:cs typeface="Calibri" pitchFamily="34" charset="-120"/>
              </a:rPr>
              <a:t>Certificate &amp; Conclusion</a:t>
            </a:r>
            <a:endParaRPr lang="en-US" sz="1500" dirty="0"/>
          </a:p>
        </p:txBody>
      </p:sp>
      <p:pic>
        <p:nvPicPr>
          <p:cNvPr id="34" name="Image 0" descr="/home/claude/unpacked/word/media/image1.png">    </p:cNvPr>
          <p:cNvPicPr>
            <a:picLocks noChangeAspect="1"/>
          </p:cNvPicPr>
          <p:nvPr/>
        </p:nvPicPr>
        <p:blipFill>
          <a:blip r:embed="rId1"/>
          <a:stretch>
            <a:fillRect/>
          </a:stretch>
        </p:blipFill>
        <p:spPr>
          <a:xfrm>
            <a:off x="320040" y="6400800"/>
            <a:ext cx="292608" cy="310896"/>
          </a:xfrm>
          <a:prstGeom prst="rect">
            <a:avLst/>
          </a:prstGeom>
        </p:spPr>
      </p:pic>
      <p:sp>
        <p:nvSpPr>
          <p:cNvPr id="35" name="Text 32"/>
          <p:cNvSpPr/>
          <p:nvPr/>
        </p:nvSpPr>
        <p:spPr>
          <a:xfrm>
            <a:off x="685800" y="6419088"/>
            <a:ext cx="7315200" cy="274320"/>
          </a:xfrm>
          <a:prstGeom prst="rect">
            <a:avLst/>
          </a:prstGeom>
          <a:noFill/>
          <a:ln/>
        </p:spPr>
        <p:txBody>
          <a:bodyPr wrap="square" rtlCol="0" anchor="ctr"/>
          <a:lstStyle/>
          <a:p>
            <a:pPr algn="l" indent="0" marL="0">
              <a:buNone/>
            </a:pPr>
            <a:r>
              <a:rPr lang="en-US" sz="900" dirty="0">
                <a:solidFill>
                  <a:srgbClr val="6B6B6B"/>
                </a:solidFill>
                <a:latin typeface="Calibri" pitchFamily="34" charset="0"/>
                <a:ea typeface="Calibri" pitchFamily="34" charset="-122"/>
                <a:cs typeface="Calibri" pitchFamily="34" charset="-120"/>
              </a:rPr>
              <a:t>Java Full Stack Developer Virtual Internship</a:t>
            </a:r>
            <a:endParaRPr lang="en-US" sz="900" dirty="0"/>
          </a:p>
        </p:txBody>
      </p:sp>
      <p:sp>
        <p:nvSpPr>
          <p:cNvPr id="36" name="Text 33"/>
          <p:cNvSpPr/>
          <p:nvPr/>
        </p:nvSpPr>
        <p:spPr>
          <a:xfrm>
            <a:off x="11368735" y="6419088"/>
            <a:ext cx="548640" cy="274320"/>
          </a:xfrm>
          <a:prstGeom prst="rect">
            <a:avLst/>
          </a:prstGeom>
          <a:noFill/>
          <a:ln/>
        </p:spPr>
        <p:txBody>
          <a:bodyPr wrap="square"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6F5"/>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990011"/>
                </a:solidFill>
                <a:latin typeface="Calibri" pitchFamily="34" charset="0"/>
                <a:ea typeface="Calibri" pitchFamily="34" charset="-122"/>
                <a:cs typeface="Calibri" pitchFamily="34" charset="-120"/>
              </a:rPr>
              <a:t>01 · INTRODUCTION</a:t>
            </a:r>
            <a:endParaRPr lang="en-US" sz="1300" dirty="0"/>
          </a:p>
        </p:txBody>
      </p:sp>
      <p:sp>
        <p:nvSpPr>
          <p:cNvPr id="3" name="Text 1"/>
          <p:cNvSpPr/>
          <p:nvPr/>
        </p:nvSpPr>
        <p:spPr>
          <a:xfrm>
            <a:off x="548640" y="658368"/>
            <a:ext cx="10607040" cy="640080"/>
          </a:xfrm>
          <a:prstGeom prst="rect">
            <a:avLst/>
          </a:prstGeom>
          <a:noFill/>
          <a:ln/>
        </p:spPr>
        <p:txBody>
          <a:bodyPr wrap="square" rtlCol="0" anchor="ctr"/>
          <a:lstStyle/>
          <a:p>
            <a:pPr indent="0" marL="0">
              <a:buNone/>
            </a:pPr>
            <a:r>
              <a:rPr lang="en-US" sz="3000" b="1" dirty="0">
                <a:solidFill>
                  <a:srgbClr val="2F3C7E"/>
                </a:solidFill>
                <a:latin typeface="Cambria" pitchFamily="34" charset="0"/>
                <a:ea typeface="Cambria" pitchFamily="34" charset="-122"/>
                <a:cs typeface="Cambria" pitchFamily="34" charset="-120"/>
              </a:rPr>
              <a:t>About the Internship</a:t>
            </a:r>
            <a:endParaRPr lang="en-US" sz="3000" dirty="0"/>
          </a:p>
        </p:txBody>
      </p:sp>
      <p:sp>
        <p:nvSpPr>
          <p:cNvPr id="4" name="Text 2"/>
          <p:cNvSpPr/>
          <p:nvPr/>
        </p:nvSpPr>
        <p:spPr>
          <a:xfrm>
            <a:off x="548640" y="1691640"/>
            <a:ext cx="6492240" cy="1371600"/>
          </a:xfrm>
          <a:prstGeom prst="rect">
            <a:avLst/>
          </a:prstGeom>
          <a:noFill/>
          <a:ln/>
        </p:spPr>
        <p:txBody>
          <a:bodyPr wrap="square" rtlCol="0" anchor="ctr"/>
          <a:lstStyle/>
          <a:p>
            <a:pPr algn="l" indent="0" marL="0">
              <a:lnSpc>
                <a:spcPct val="125000"/>
              </a:lnSpc>
              <a:buNone/>
            </a:pPr>
            <a:r>
              <a:rPr lang="en-US" sz="1500" dirty="0">
                <a:solidFill>
                  <a:srgbClr val="222222"/>
                </a:solidFill>
                <a:latin typeface="Calibri" pitchFamily="34" charset="0"/>
                <a:ea typeface="Calibri" pitchFamily="34" charset="-122"/>
                <a:cs typeface="Calibri" pitchFamily="34" charset="-120"/>
              </a:rPr>
              <a:t>This report presents the work carried out during the “Java Full Stack Developer Virtual Internship,” organized under the National Internship Portal by AICTE, Ministry of Education, Government of India, in association with EduSkills Academy.</a:t>
            </a:r>
            <a:endParaRPr lang="en-US" sz="1500" dirty="0"/>
          </a:p>
        </p:txBody>
      </p:sp>
      <p:sp>
        <p:nvSpPr>
          <p:cNvPr id="5" name="Text 3"/>
          <p:cNvSpPr/>
          <p:nvPr/>
        </p:nvSpPr>
        <p:spPr>
          <a:xfrm>
            <a:off x="548640" y="3063240"/>
            <a:ext cx="6492240" cy="1371600"/>
          </a:xfrm>
          <a:prstGeom prst="rect">
            <a:avLst/>
          </a:prstGeom>
          <a:noFill/>
          <a:ln/>
        </p:spPr>
        <p:txBody>
          <a:bodyPr wrap="square" rtlCol="0" anchor="ctr"/>
          <a:lstStyle/>
          <a:p>
            <a:pPr algn="l" indent="0" marL="0">
              <a:lnSpc>
                <a:spcPct val="125000"/>
              </a:lnSpc>
              <a:buNone/>
            </a:pPr>
            <a:r>
              <a:rPr lang="en-US" sz="1500" dirty="0">
                <a:solidFill>
                  <a:srgbClr val="222222"/>
                </a:solidFill>
                <a:latin typeface="Calibri" pitchFamily="34" charset="0"/>
                <a:ea typeface="Calibri" pitchFamily="34" charset="-122"/>
                <a:cs typeface="Calibri" pitchFamily="34" charset="-120"/>
              </a:rPr>
              <a:t>The program delivered hands-on, industry-oriented exposure to full stack Java development — covering the user interface, server-side logic and the underlying database — as part of the B.Tech CSE curriculum at IILM University, Greater Noida.</a:t>
            </a:r>
            <a:endParaRPr lang="en-US" sz="1500" dirty="0"/>
          </a:p>
        </p:txBody>
      </p:sp>
      <p:sp>
        <p:nvSpPr>
          <p:cNvPr id="6" name="Shape 4"/>
          <p:cNvSpPr/>
          <p:nvPr/>
        </p:nvSpPr>
        <p:spPr>
          <a:xfrm>
            <a:off x="7360920" y="1691640"/>
            <a:ext cx="4251960" cy="1234440"/>
          </a:xfrm>
          <a:prstGeom prst="roundRect">
            <a:avLst>
              <a:gd name="adj" fmla="val 5926"/>
            </a:avLst>
          </a:prstGeom>
          <a:solidFill>
            <a:srgbClr val="2F3C7E"/>
          </a:solidFill>
          <a:ln/>
        </p:spPr>
      </p:sp>
      <p:sp>
        <p:nvSpPr>
          <p:cNvPr id="7" name="Text 5"/>
          <p:cNvSpPr/>
          <p:nvPr/>
        </p:nvSpPr>
        <p:spPr>
          <a:xfrm>
            <a:off x="7589520" y="1801368"/>
            <a:ext cx="1554480" cy="1014984"/>
          </a:xfrm>
          <a:prstGeom prst="rect">
            <a:avLst/>
          </a:prstGeom>
          <a:noFill/>
          <a:ln/>
        </p:spPr>
        <p:txBody>
          <a:bodyPr wrap="square" rtlCol="0" anchor="ctr"/>
          <a:lstStyle/>
          <a:p>
            <a:pPr indent="0" marL="0">
              <a:buNone/>
            </a:pPr>
            <a:r>
              <a:rPr lang="en-US" sz="3400" b="1" dirty="0">
                <a:solidFill>
                  <a:srgbClr val="F4B6B6"/>
                </a:solidFill>
                <a:latin typeface="Cambria" pitchFamily="34" charset="0"/>
                <a:ea typeface="Cambria" pitchFamily="34" charset="-122"/>
                <a:cs typeface="Cambria" pitchFamily="34" charset="-120"/>
              </a:rPr>
              <a:t>8</a:t>
            </a:r>
            <a:endParaRPr lang="en-US" sz="3400" dirty="0"/>
          </a:p>
        </p:txBody>
      </p:sp>
      <p:sp>
        <p:nvSpPr>
          <p:cNvPr id="8" name="Text 6"/>
          <p:cNvSpPr/>
          <p:nvPr/>
        </p:nvSpPr>
        <p:spPr>
          <a:xfrm>
            <a:off x="9144000" y="1691640"/>
            <a:ext cx="2331720" cy="12344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Weeks Duration</a:t>
            </a:r>
            <a:endParaRPr lang="en-US" sz="1400" dirty="0"/>
          </a:p>
        </p:txBody>
      </p:sp>
      <p:sp>
        <p:nvSpPr>
          <p:cNvPr id="9" name="Shape 7"/>
          <p:cNvSpPr/>
          <p:nvPr/>
        </p:nvSpPr>
        <p:spPr>
          <a:xfrm>
            <a:off x="7360920" y="3127248"/>
            <a:ext cx="4251960" cy="1234440"/>
          </a:xfrm>
          <a:prstGeom prst="roundRect">
            <a:avLst>
              <a:gd name="adj" fmla="val 5926"/>
            </a:avLst>
          </a:prstGeom>
          <a:solidFill>
            <a:srgbClr val="2F3C7E"/>
          </a:solidFill>
          <a:ln/>
        </p:spPr>
      </p:sp>
      <p:sp>
        <p:nvSpPr>
          <p:cNvPr id="10" name="Text 8"/>
          <p:cNvSpPr/>
          <p:nvPr/>
        </p:nvSpPr>
        <p:spPr>
          <a:xfrm>
            <a:off x="7589520" y="3236976"/>
            <a:ext cx="1554480" cy="1014984"/>
          </a:xfrm>
          <a:prstGeom prst="rect">
            <a:avLst/>
          </a:prstGeom>
          <a:noFill/>
          <a:ln/>
        </p:spPr>
        <p:txBody>
          <a:bodyPr wrap="square" rtlCol="0" anchor="ctr"/>
          <a:lstStyle/>
          <a:p>
            <a:pPr indent="0" marL="0">
              <a:buNone/>
            </a:pPr>
            <a:r>
              <a:rPr lang="en-US" sz="3400" b="1" dirty="0">
                <a:solidFill>
                  <a:srgbClr val="F4B6B6"/>
                </a:solidFill>
                <a:latin typeface="Cambria" pitchFamily="34" charset="0"/>
                <a:ea typeface="Cambria" pitchFamily="34" charset="-122"/>
                <a:cs typeface="Cambria" pitchFamily="34" charset="-120"/>
              </a:rPr>
              <a:t>2026</a:t>
            </a:r>
            <a:endParaRPr lang="en-US" sz="3400" dirty="0"/>
          </a:p>
        </p:txBody>
      </p:sp>
      <p:sp>
        <p:nvSpPr>
          <p:cNvPr id="11" name="Text 9"/>
          <p:cNvSpPr/>
          <p:nvPr/>
        </p:nvSpPr>
        <p:spPr>
          <a:xfrm>
            <a:off x="9144000" y="3127248"/>
            <a:ext cx="2331720" cy="12344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Completed Aug–Oct</a:t>
            </a:r>
            <a:endParaRPr lang="en-US" sz="1400" dirty="0"/>
          </a:p>
        </p:txBody>
      </p:sp>
      <p:sp>
        <p:nvSpPr>
          <p:cNvPr id="12" name="Shape 10"/>
          <p:cNvSpPr/>
          <p:nvPr/>
        </p:nvSpPr>
        <p:spPr>
          <a:xfrm>
            <a:off x="7360920" y="4562856"/>
            <a:ext cx="4251960" cy="1234440"/>
          </a:xfrm>
          <a:prstGeom prst="roundRect">
            <a:avLst>
              <a:gd name="adj" fmla="val 5926"/>
            </a:avLst>
          </a:prstGeom>
          <a:solidFill>
            <a:srgbClr val="2F3C7E"/>
          </a:solidFill>
          <a:ln/>
        </p:spPr>
      </p:sp>
      <p:sp>
        <p:nvSpPr>
          <p:cNvPr id="13" name="Text 11"/>
          <p:cNvSpPr/>
          <p:nvPr/>
        </p:nvSpPr>
        <p:spPr>
          <a:xfrm>
            <a:off x="7589520" y="4672584"/>
            <a:ext cx="1554480" cy="1014984"/>
          </a:xfrm>
          <a:prstGeom prst="rect">
            <a:avLst/>
          </a:prstGeom>
          <a:noFill/>
          <a:ln/>
        </p:spPr>
        <p:txBody>
          <a:bodyPr wrap="square" rtlCol="0" anchor="ctr"/>
          <a:lstStyle/>
          <a:p>
            <a:pPr indent="0" marL="0">
              <a:buNone/>
            </a:pPr>
            <a:r>
              <a:rPr lang="en-US" sz="3400" b="1" dirty="0">
                <a:solidFill>
                  <a:srgbClr val="F4B6B6"/>
                </a:solidFill>
                <a:latin typeface="Cambria" pitchFamily="34" charset="0"/>
                <a:ea typeface="Cambria" pitchFamily="34" charset="-122"/>
                <a:cs typeface="Cambria" pitchFamily="34" charset="-120"/>
              </a:rPr>
              <a:t>O</a:t>
            </a:r>
            <a:endParaRPr lang="en-US" sz="3400" dirty="0"/>
          </a:p>
        </p:txBody>
      </p:sp>
      <p:sp>
        <p:nvSpPr>
          <p:cNvPr id="14" name="Text 12"/>
          <p:cNvSpPr/>
          <p:nvPr/>
        </p:nvSpPr>
        <p:spPr>
          <a:xfrm>
            <a:off x="9144000" y="4562856"/>
            <a:ext cx="2331720" cy="12344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Final Grade – Outstanding</a:t>
            </a:r>
            <a:endParaRPr lang="en-US" sz="1400" dirty="0"/>
          </a:p>
        </p:txBody>
      </p:sp>
      <p:pic>
        <p:nvPicPr>
          <p:cNvPr id="15" name="Image 0" descr="/home/claude/unpacked/word/media/image1.png">    </p:cNvPr>
          <p:cNvPicPr>
            <a:picLocks noChangeAspect="1"/>
          </p:cNvPicPr>
          <p:nvPr/>
        </p:nvPicPr>
        <p:blipFill>
          <a:blip r:embed="rId1"/>
          <a:stretch>
            <a:fillRect/>
          </a:stretch>
        </p:blipFill>
        <p:spPr>
          <a:xfrm>
            <a:off x="320040" y="6400800"/>
            <a:ext cx="292608" cy="310896"/>
          </a:xfrm>
          <a:prstGeom prst="rect">
            <a:avLst/>
          </a:prstGeom>
        </p:spPr>
      </p:pic>
      <p:sp>
        <p:nvSpPr>
          <p:cNvPr id="16" name="Text 13"/>
          <p:cNvSpPr/>
          <p:nvPr/>
        </p:nvSpPr>
        <p:spPr>
          <a:xfrm>
            <a:off x="685800" y="6419088"/>
            <a:ext cx="7315200" cy="274320"/>
          </a:xfrm>
          <a:prstGeom prst="rect">
            <a:avLst/>
          </a:prstGeom>
          <a:noFill/>
          <a:ln/>
        </p:spPr>
        <p:txBody>
          <a:bodyPr wrap="square" rtlCol="0" anchor="ctr"/>
          <a:lstStyle/>
          <a:p>
            <a:pPr algn="l" indent="0" marL="0">
              <a:buNone/>
            </a:pPr>
            <a:r>
              <a:rPr lang="en-US" sz="900" dirty="0">
                <a:solidFill>
                  <a:srgbClr val="6B6B6B"/>
                </a:solidFill>
                <a:latin typeface="Calibri" pitchFamily="34" charset="0"/>
                <a:ea typeface="Calibri" pitchFamily="34" charset="-122"/>
                <a:cs typeface="Calibri" pitchFamily="34" charset="-120"/>
              </a:rPr>
              <a:t>Java Full Stack Developer Virtual Internship</a:t>
            </a:r>
            <a:endParaRPr lang="en-US" sz="900" dirty="0"/>
          </a:p>
        </p:txBody>
      </p:sp>
      <p:sp>
        <p:nvSpPr>
          <p:cNvPr id="17" name="Text 14"/>
          <p:cNvSpPr/>
          <p:nvPr/>
        </p:nvSpPr>
        <p:spPr>
          <a:xfrm>
            <a:off x="11368735" y="6419088"/>
            <a:ext cx="548640" cy="274320"/>
          </a:xfrm>
          <a:prstGeom prst="rect">
            <a:avLst/>
          </a:prstGeom>
          <a:noFill/>
          <a:ln/>
        </p:spPr>
        <p:txBody>
          <a:bodyPr wrap="square"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6F5"/>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990011"/>
                </a:solidFill>
                <a:latin typeface="Calibri" pitchFamily="34" charset="0"/>
                <a:ea typeface="Calibri" pitchFamily="34" charset="-122"/>
                <a:cs typeface="Calibri" pitchFamily="34" charset="-120"/>
              </a:rPr>
              <a:t>02 · ORGANIZATION PROFILE</a:t>
            </a:r>
            <a:endParaRPr lang="en-US" sz="1300" dirty="0"/>
          </a:p>
        </p:txBody>
      </p:sp>
      <p:sp>
        <p:nvSpPr>
          <p:cNvPr id="3" name="Text 1"/>
          <p:cNvSpPr/>
          <p:nvPr/>
        </p:nvSpPr>
        <p:spPr>
          <a:xfrm>
            <a:off x="548640" y="658368"/>
            <a:ext cx="10607040" cy="640080"/>
          </a:xfrm>
          <a:prstGeom prst="rect">
            <a:avLst/>
          </a:prstGeom>
          <a:noFill/>
          <a:ln/>
        </p:spPr>
        <p:txBody>
          <a:bodyPr wrap="square" rtlCol="0" anchor="ctr"/>
          <a:lstStyle/>
          <a:p>
            <a:pPr indent="0" marL="0">
              <a:buNone/>
            </a:pPr>
            <a:r>
              <a:rPr lang="en-US" sz="3000" b="1" dirty="0">
                <a:solidFill>
                  <a:srgbClr val="2F3C7E"/>
                </a:solidFill>
                <a:latin typeface="Cambria" pitchFamily="34" charset="0"/>
                <a:ea typeface="Cambria" pitchFamily="34" charset="-122"/>
                <a:cs typeface="Cambria" pitchFamily="34" charset="-120"/>
              </a:rPr>
              <a:t>Who Delivered the Program</a:t>
            </a:r>
            <a:endParaRPr lang="en-US" sz="3000" dirty="0"/>
          </a:p>
        </p:txBody>
      </p:sp>
      <p:sp>
        <p:nvSpPr>
          <p:cNvPr id="4" name="Shape 2"/>
          <p:cNvSpPr/>
          <p:nvPr/>
        </p:nvSpPr>
        <p:spPr>
          <a:xfrm>
            <a:off x="548640" y="1691640"/>
            <a:ext cx="5120640" cy="1783080"/>
          </a:xfrm>
          <a:prstGeom prst="roundRect">
            <a:avLst>
              <a:gd name="adj" fmla="val 4103"/>
            </a:avLst>
          </a:prstGeom>
          <a:solidFill>
            <a:srgbClr val="FFFFFF"/>
          </a:solidFill>
          <a:ln w="12700">
            <a:solidFill>
              <a:srgbClr val="E6DFDC"/>
            </a:solidFill>
            <a:prstDash val="solid"/>
          </a:ln>
          <a:effectLst>
            <a:outerShdw sx="100000" sy="100000" kx="0" ky="0" algn="bl" rotWithShape="0" blurRad="76200" dist="25400" dir="5400000">
              <a:srgbClr val="000000">
                <a:alpha val="10000"/>
              </a:srgbClr>
            </a:outerShdw>
          </a:effectLst>
        </p:spPr>
      </p:sp>
      <p:sp>
        <p:nvSpPr>
          <p:cNvPr id="5" name="Shape 3"/>
          <p:cNvSpPr/>
          <p:nvPr/>
        </p:nvSpPr>
        <p:spPr>
          <a:xfrm>
            <a:off x="804672" y="1947672"/>
            <a:ext cx="777240" cy="777240"/>
          </a:xfrm>
          <a:prstGeom prst="ellipse">
            <a:avLst/>
          </a:prstGeom>
          <a:solidFill>
            <a:srgbClr val="990011"/>
          </a:solidFill>
          <a:ln/>
        </p:spPr>
      </p:sp>
      <p:sp>
        <p:nvSpPr>
          <p:cNvPr id="6" name="Text 4"/>
          <p:cNvSpPr/>
          <p:nvPr/>
        </p:nvSpPr>
        <p:spPr>
          <a:xfrm>
            <a:off x="804672" y="1947672"/>
            <a:ext cx="777240" cy="7772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AICTE</a:t>
            </a:r>
            <a:endParaRPr lang="en-US" sz="1300" dirty="0"/>
          </a:p>
        </p:txBody>
      </p:sp>
      <p:sp>
        <p:nvSpPr>
          <p:cNvPr id="7" name="Text 5"/>
          <p:cNvSpPr/>
          <p:nvPr/>
        </p:nvSpPr>
        <p:spPr>
          <a:xfrm>
            <a:off x="1783080" y="1892808"/>
            <a:ext cx="3657600" cy="1380744"/>
          </a:xfrm>
          <a:prstGeom prst="rect">
            <a:avLst/>
          </a:prstGeom>
          <a:noFill/>
          <a:ln/>
        </p:spPr>
        <p:txBody>
          <a:bodyPr wrap="square" rtlCol="0" anchor="ctr"/>
          <a:lstStyle/>
          <a:p>
            <a:pPr indent="0" marL="0">
              <a:lnSpc>
                <a:spcPct val="115000"/>
              </a:lnSpc>
              <a:buNone/>
            </a:pPr>
            <a:r>
              <a:rPr lang="en-US" sz="1300" dirty="0">
                <a:solidFill>
                  <a:srgbClr val="222222"/>
                </a:solidFill>
                <a:latin typeface="Calibri" pitchFamily="34" charset="0"/>
                <a:ea typeface="Calibri" pitchFamily="34" charset="-122"/>
                <a:cs typeface="Calibri" pitchFamily="34" charset="-120"/>
              </a:rPr>
              <a:t>All India Council for Technical Education — sets the standardized curriculum and evaluation framework.</a:t>
            </a:r>
            <a:endParaRPr lang="en-US" sz="1300" dirty="0"/>
          </a:p>
        </p:txBody>
      </p:sp>
      <p:sp>
        <p:nvSpPr>
          <p:cNvPr id="8" name="Shape 6"/>
          <p:cNvSpPr/>
          <p:nvPr/>
        </p:nvSpPr>
        <p:spPr>
          <a:xfrm>
            <a:off x="5989320" y="1691640"/>
            <a:ext cx="5120640" cy="1783080"/>
          </a:xfrm>
          <a:prstGeom prst="roundRect">
            <a:avLst>
              <a:gd name="adj" fmla="val 4103"/>
            </a:avLst>
          </a:prstGeom>
          <a:solidFill>
            <a:srgbClr val="FFFFFF"/>
          </a:solidFill>
          <a:ln w="12700">
            <a:solidFill>
              <a:srgbClr val="E6DFDC"/>
            </a:solidFill>
            <a:prstDash val="solid"/>
          </a:ln>
          <a:effectLst>
            <a:outerShdw sx="100000" sy="100000" kx="0" ky="0" algn="bl" rotWithShape="0" blurRad="76200" dist="25400" dir="5400000">
              <a:srgbClr val="000000">
                <a:alpha val="10000"/>
              </a:srgbClr>
            </a:outerShdw>
          </a:effectLst>
        </p:spPr>
      </p:sp>
      <p:sp>
        <p:nvSpPr>
          <p:cNvPr id="9" name="Shape 7"/>
          <p:cNvSpPr/>
          <p:nvPr/>
        </p:nvSpPr>
        <p:spPr>
          <a:xfrm>
            <a:off x="6245352" y="1947672"/>
            <a:ext cx="777240" cy="777240"/>
          </a:xfrm>
          <a:prstGeom prst="ellipse">
            <a:avLst/>
          </a:prstGeom>
          <a:solidFill>
            <a:srgbClr val="990011"/>
          </a:solidFill>
          <a:ln/>
        </p:spPr>
      </p:sp>
      <p:sp>
        <p:nvSpPr>
          <p:cNvPr id="10" name="Text 8"/>
          <p:cNvSpPr/>
          <p:nvPr/>
        </p:nvSpPr>
        <p:spPr>
          <a:xfrm>
            <a:off x="6245352" y="1947672"/>
            <a:ext cx="777240" cy="7772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MoE</a:t>
            </a:r>
            <a:endParaRPr lang="en-US" sz="1300" dirty="0"/>
          </a:p>
        </p:txBody>
      </p:sp>
      <p:sp>
        <p:nvSpPr>
          <p:cNvPr id="11" name="Text 9"/>
          <p:cNvSpPr/>
          <p:nvPr/>
        </p:nvSpPr>
        <p:spPr>
          <a:xfrm>
            <a:off x="7223760" y="1892808"/>
            <a:ext cx="3657600" cy="1380744"/>
          </a:xfrm>
          <a:prstGeom prst="rect">
            <a:avLst/>
          </a:prstGeom>
          <a:noFill/>
          <a:ln/>
        </p:spPr>
        <p:txBody>
          <a:bodyPr wrap="square" rtlCol="0" anchor="ctr"/>
          <a:lstStyle/>
          <a:p>
            <a:pPr indent="0" marL="0">
              <a:lnSpc>
                <a:spcPct val="115000"/>
              </a:lnSpc>
              <a:buNone/>
            </a:pPr>
            <a:r>
              <a:rPr lang="en-US" sz="1300" dirty="0">
                <a:solidFill>
                  <a:srgbClr val="222222"/>
                </a:solidFill>
                <a:latin typeface="Calibri" pitchFamily="34" charset="0"/>
                <a:ea typeface="Calibri" pitchFamily="34" charset="-122"/>
                <a:cs typeface="Calibri" pitchFamily="34" charset="-120"/>
              </a:rPr>
              <a:t>Ministry of Education, Government of India — apex body behind the National Internship Portal.</a:t>
            </a:r>
            <a:endParaRPr lang="en-US" sz="1300" dirty="0"/>
          </a:p>
        </p:txBody>
      </p:sp>
      <p:sp>
        <p:nvSpPr>
          <p:cNvPr id="12" name="Shape 10"/>
          <p:cNvSpPr/>
          <p:nvPr/>
        </p:nvSpPr>
        <p:spPr>
          <a:xfrm>
            <a:off x="548640" y="3749040"/>
            <a:ext cx="5120640" cy="1783080"/>
          </a:xfrm>
          <a:prstGeom prst="roundRect">
            <a:avLst>
              <a:gd name="adj" fmla="val 4103"/>
            </a:avLst>
          </a:prstGeom>
          <a:solidFill>
            <a:srgbClr val="FFFFFF"/>
          </a:solidFill>
          <a:ln w="12700">
            <a:solidFill>
              <a:srgbClr val="E6DFDC"/>
            </a:solidFill>
            <a:prstDash val="solid"/>
          </a:ln>
          <a:effectLst>
            <a:outerShdw sx="100000" sy="100000" kx="0" ky="0" algn="bl" rotWithShape="0" blurRad="76200" dist="25400" dir="5400000">
              <a:srgbClr val="000000">
                <a:alpha val="10000"/>
              </a:srgbClr>
            </a:outerShdw>
          </a:effectLst>
        </p:spPr>
      </p:sp>
      <p:sp>
        <p:nvSpPr>
          <p:cNvPr id="13" name="Shape 11"/>
          <p:cNvSpPr/>
          <p:nvPr/>
        </p:nvSpPr>
        <p:spPr>
          <a:xfrm>
            <a:off x="804672" y="4005072"/>
            <a:ext cx="777240" cy="777240"/>
          </a:xfrm>
          <a:prstGeom prst="ellipse">
            <a:avLst/>
          </a:prstGeom>
          <a:solidFill>
            <a:srgbClr val="990011"/>
          </a:solidFill>
          <a:ln/>
        </p:spPr>
      </p:sp>
      <p:sp>
        <p:nvSpPr>
          <p:cNvPr id="14" name="Text 12"/>
          <p:cNvSpPr/>
          <p:nvPr/>
        </p:nvSpPr>
        <p:spPr>
          <a:xfrm>
            <a:off x="804672" y="4005072"/>
            <a:ext cx="777240" cy="7772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NIP</a:t>
            </a:r>
            <a:endParaRPr lang="en-US" sz="1300" dirty="0"/>
          </a:p>
        </p:txBody>
      </p:sp>
      <p:sp>
        <p:nvSpPr>
          <p:cNvPr id="15" name="Text 13"/>
          <p:cNvSpPr/>
          <p:nvPr/>
        </p:nvSpPr>
        <p:spPr>
          <a:xfrm>
            <a:off x="1783080" y="3950208"/>
            <a:ext cx="3657600" cy="1380744"/>
          </a:xfrm>
          <a:prstGeom prst="rect">
            <a:avLst/>
          </a:prstGeom>
          <a:noFill/>
          <a:ln/>
        </p:spPr>
        <p:txBody>
          <a:bodyPr wrap="square" rtlCol="0" anchor="ctr"/>
          <a:lstStyle/>
          <a:p>
            <a:pPr indent="0" marL="0">
              <a:lnSpc>
                <a:spcPct val="115000"/>
              </a:lnSpc>
              <a:buNone/>
            </a:pPr>
            <a:r>
              <a:rPr lang="en-US" sz="1300" dirty="0">
                <a:solidFill>
                  <a:srgbClr val="222222"/>
                </a:solidFill>
                <a:latin typeface="Calibri" pitchFamily="34" charset="0"/>
                <a:ea typeface="Calibri" pitchFamily="34" charset="-122"/>
                <a:cs typeface="Calibri" pitchFamily="34" charset="-120"/>
              </a:rPr>
              <a:t>National Internship Portal — connects students nationwide to structured virtual internships.</a:t>
            </a:r>
            <a:endParaRPr lang="en-US" sz="1300" dirty="0"/>
          </a:p>
        </p:txBody>
      </p:sp>
      <p:sp>
        <p:nvSpPr>
          <p:cNvPr id="16" name="Shape 14"/>
          <p:cNvSpPr/>
          <p:nvPr/>
        </p:nvSpPr>
        <p:spPr>
          <a:xfrm>
            <a:off x="5989320" y="3749040"/>
            <a:ext cx="5120640" cy="1783080"/>
          </a:xfrm>
          <a:prstGeom prst="roundRect">
            <a:avLst>
              <a:gd name="adj" fmla="val 4103"/>
            </a:avLst>
          </a:prstGeom>
          <a:solidFill>
            <a:srgbClr val="FFFFFF"/>
          </a:solidFill>
          <a:ln w="12700">
            <a:solidFill>
              <a:srgbClr val="E6DFDC"/>
            </a:solidFill>
            <a:prstDash val="solid"/>
          </a:ln>
          <a:effectLst>
            <a:outerShdw sx="100000" sy="100000" kx="0" ky="0" algn="bl" rotWithShape="0" blurRad="76200" dist="25400" dir="5400000">
              <a:srgbClr val="000000">
                <a:alpha val="10000"/>
              </a:srgbClr>
            </a:outerShdw>
          </a:effectLst>
        </p:spPr>
      </p:sp>
      <p:sp>
        <p:nvSpPr>
          <p:cNvPr id="17" name="Shape 15"/>
          <p:cNvSpPr/>
          <p:nvPr/>
        </p:nvSpPr>
        <p:spPr>
          <a:xfrm>
            <a:off x="6245352" y="4005072"/>
            <a:ext cx="777240" cy="777240"/>
          </a:xfrm>
          <a:prstGeom prst="ellipse">
            <a:avLst/>
          </a:prstGeom>
          <a:solidFill>
            <a:srgbClr val="990011"/>
          </a:solidFill>
          <a:ln/>
        </p:spPr>
      </p:sp>
      <p:sp>
        <p:nvSpPr>
          <p:cNvPr id="18" name="Text 16"/>
          <p:cNvSpPr/>
          <p:nvPr/>
        </p:nvSpPr>
        <p:spPr>
          <a:xfrm>
            <a:off x="6245352" y="4005072"/>
            <a:ext cx="777240" cy="7772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ES</a:t>
            </a:r>
            <a:endParaRPr lang="en-US" sz="1300" dirty="0"/>
          </a:p>
        </p:txBody>
      </p:sp>
      <p:sp>
        <p:nvSpPr>
          <p:cNvPr id="19" name="Text 17"/>
          <p:cNvSpPr/>
          <p:nvPr/>
        </p:nvSpPr>
        <p:spPr>
          <a:xfrm>
            <a:off x="7223760" y="3950208"/>
            <a:ext cx="3657600" cy="1380744"/>
          </a:xfrm>
          <a:prstGeom prst="rect">
            <a:avLst/>
          </a:prstGeom>
          <a:noFill/>
          <a:ln/>
        </p:spPr>
        <p:txBody>
          <a:bodyPr wrap="square" rtlCol="0" anchor="ctr"/>
          <a:lstStyle/>
          <a:p>
            <a:pPr indent="0" marL="0">
              <a:lnSpc>
                <a:spcPct val="115000"/>
              </a:lnSpc>
              <a:buNone/>
            </a:pPr>
            <a:r>
              <a:rPr lang="en-US" sz="1300" dirty="0">
                <a:solidFill>
                  <a:srgbClr val="222222"/>
                </a:solidFill>
                <a:latin typeface="Calibri" pitchFamily="34" charset="0"/>
                <a:ea typeface="Calibri" pitchFamily="34" charset="-122"/>
                <a:cs typeface="Calibri" pitchFamily="34" charset="-120"/>
              </a:rPr>
              <a:t>EduSkills Academy — “Nation Building Through Skills”; delivers mentor-guided training content.</a:t>
            </a:r>
            <a:endParaRPr lang="en-US" sz="1300" dirty="0"/>
          </a:p>
        </p:txBody>
      </p:sp>
      <p:pic>
        <p:nvPicPr>
          <p:cNvPr id="20" name="Image 0" descr="/home/claude/unpacked/word/media/image1.png">    </p:cNvPr>
          <p:cNvPicPr>
            <a:picLocks noChangeAspect="1"/>
          </p:cNvPicPr>
          <p:nvPr/>
        </p:nvPicPr>
        <p:blipFill>
          <a:blip r:embed="rId1"/>
          <a:stretch>
            <a:fillRect/>
          </a:stretch>
        </p:blipFill>
        <p:spPr>
          <a:xfrm>
            <a:off x="320040" y="6400800"/>
            <a:ext cx="292608" cy="310896"/>
          </a:xfrm>
          <a:prstGeom prst="rect">
            <a:avLst/>
          </a:prstGeom>
        </p:spPr>
      </p:pic>
      <p:sp>
        <p:nvSpPr>
          <p:cNvPr id="21" name="Text 18"/>
          <p:cNvSpPr/>
          <p:nvPr/>
        </p:nvSpPr>
        <p:spPr>
          <a:xfrm>
            <a:off x="685800" y="6419088"/>
            <a:ext cx="7315200" cy="274320"/>
          </a:xfrm>
          <a:prstGeom prst="rect">
            <a:avLst/>
          </a:prstGeom>
          <a:noFill/>
          <a:ln/>
        </p:spPr>
        <p:txBody>
          <a:bodyPr wrap="square" rtlCol="0" anchor="ctr"/>
          <a:lstStyle/>
          <a:p>
            <a:pPr algn="l" indent="0" marL="0">
              <a:buNone/>
            </a:pPr>
            <a:r>
              <a:rPr lang="en-US" sz="900" dirty="0">
                <a:solidFill>
                  <a:srgbClr val="6B6B6B"/>
                </a:solidFill>
                <a:latin typeface="Calibri" pitchFamily="34" charset="0"/>
                <a:ea typeface="Calibri" pitchFamily="34" charset="-122"/>
                <a:cs typeface="Calibri" pitchFamily="34" charset="-120"/>
              </a:rPr>
              <a:t>Java Full Stack Developer Virtual Internship</a:t>
            </a:r>
            <a:endParaRPr lang="en-US" sz="900" dirty="0"/>
          </a:p>
        </p:txBody>
      </p:sp>
      <p:sp>
        <p:nvSpPr>
          <p:cNvPr id="22" name="Text 19"/>
          <p:cNvSpPr/>
          <p:nvPr/>
        </p:nvSpPr>
        <p:spPr>
          <a:xfrm>
            <a:off x="11368735" y="6419088"/>
            <a:ext cx="548640" cy="274320"/>
          </a:xfrm>
          <a:prstGeom prst="rect">
            <a:avLst/>
          </a:prstGeom>
          <a:noFill/>
          <a:ln/>
        </p:spPr>
        <p:txBody>
          <a:bodyPr wrap="square"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F3C7E"/>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300" b="1" spc="200" kern="0" dirty="0">
                <a:solidFill>
                  <a:srgbClr val="F4B6B6"/>
                </a:solidFill>
                <a:latin typeface="Calibri" pitchFamily="34" charset="0"/>
                <a:ea typeface="Calibri" pitchFamily="34" charset="-122"/>
                <a:cs typeface="Calibri" pitchFamily="34" charset="-120"/>
              </a:rPr>
              <a:t>03 · PROBLEM STATEMENT</a:t>
            </a:r>
            <a:endParaRPr lang="en-US" sz="1300" dirty="0"/>
          </a:p>
        </p:txBody>
      </p:sp>
      <p:sp>
        <p:nvSpPr>
          <p:cNvPr id="3" name="Text 1"/>
          <p:cNvSpPr/>
          <p:nvPr/>
        </p:nvSpPr>
        <p:spPr>
          <a:xfrm>
            <a:off x="548640" y="777240"/>
            <a:ext cx="10789920" cy="64008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The Gap Between Theory and Practice</a:t>
            </a:r>
            <a:endParaRPr lang="en-US" sz="2800" dirty="0"/>
          </a:p>
        </p:txBody>
      </p:sp>
      <p:sp>
        <p:nvSpPr>
          <p:cNvPr id="4" name="Shape 2"/>
          <p:cNvSpPr/>
          <p:nvPr/>
        </p:nvSpPr>
        <p:spPr>
          <a:xfrm>
            <a:off x="548640" y="1783080"/>
            <a:ext cx="5120640" cy="4206240"/>
          </a:xfrm>
          <a:prstGeom prst="roundRect">
            <a:avLst>
              <a:gd name="adj" fmla="val 1739"/>
            </a:avLst>
          </a:prstGeom>
          <a:solidFill>
            <a:srgbClr val="26305F"/>
          </a:solidFill>
          <a:ln/>
        </p:spPr>
      </p:sp>
      <p:sp>
        <p:nvSpPr>
          <p:cNvPr id="5" name="Text 3"/>
          <p:cNvSpPr/>
          <p:nvPr/>
        </p:nvSpPr>
        <p:spPr>
          <a:xfrm>
            <a:off x="868680" y="2057400"/>
            <a:ext cx="4480560" cy="457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Traditional Curriculum</a:t>
            </a:r>
            <a:endParaRPr lang="en-US" sz="1700" dirty="0"/>
          </a:p>
        </p:txBody>
      </p:sp>
      <p:sp>
        <p:nvSpPr>
          <p:cNvPr id="6" name="Text 4"/>
          <p:cNvSpPr/>
          <p:nvPr/>
        </p:nvSpPr>
        <p:spPr>
          <a:xfrm>
            <a:off x="868680" y="2743200"/>
            <a:ext cx="4480560" cy="731520"/>
          </a:xfrm>
          <a:prstGeom prst="rect">
            <a:avLst/>
          </a:prstGeom>
          <a:noFill/>
          <a:ln/>
        </p:spPr>
        <p:txBody>
          <a:bodyPr wrap="square" rtlCol="0" anchor="t"/>
          <a:lstStyle/>
          <a:p>
            <a:pPr indent="0" marL="0">
              <a:lnSpc>
                <a:spcPct val="115000"/>
              </a:lnSpc>
              <a:buNone/>
            </a:pPr>
            <a:r>
              <a:rPr lang="en-US" sz="1400" dirty="0">
                <a:solidFill>
                  <a:srgbClr val="FFFFFF"/>
                </a:solidFill>
                <a:latin typeface="Calibri" pitchFamily="34" charset="0"/>
                <a:ea typeface="Calibri" pitchFamily="34" charset="-122"/>
                <a:cs typeface="Calibri" pitchFamily="34" charset="-120"/>
              </a:rPr>
              <a:t>•  Front-end and back-end taught in isolation</a:t>
            </a:r>
            <a:endParaRPr lang="en-US" sz="1400" dirty="0"/>
          </a:p>
        </p:txBody>
      </p:sp>
      <p:sp>
        <p:nvSpPr>
          <p:cNvPr id="7" name="Text 5"/>
          <p:cNvSpPr/>
          <p:nvPr/>
        </p:nvSpPr>
        <p:spPr>
          <a:xfrm>
            <a:off x="868680" y="3520440"/>
            <a:ext cx="4480560" cy="731520"/>
          </a:xfrm>
          <a:prstGeom prst="rect">
            <a:avLst/>
          </a:prstGeom>
          <a:noFill/>
          <a:ln/>
        </p:spPr>
        <p:txBody>
          <a:bodyPr wrap="square" rtlCol="0" anchor="t"/>
          <a:lstStyle/>
          <a:p>
            <a:pPr indent="0" marL="0">
              <a:lnSpc>
                <a:spcPct val="115000"/>
              </a:lnSpc>
              <a:buNone/>
            </a:pPr>
            <a:r>
              <a:rPr lang="en-US" sz="1400" dirty="0">
                <a:solidFill>
                  <a:srgbClr val="FFFFFF"/>
                </a:solidFill>
                <a:latin typeface="Calibri" pitchFamily="34" charset="0"/>
                <a:ea typeface="Calibri" pitchFamily="34" charset="-122"/>
                <a:cs typeface="Calibri" pitchFamily="34" charset="-120"/>
              </a:rPr>
              <a:t>•  Limited exposure to full development lifecycle</a:t>
            </a:r>
            <a:endParaRPr lang="en-US" sz="1400" dirty="0"/>
          </a:p>
        </p:txBody>
      </p:sp>
      <p:sp>
        <p:nvSpPr>
          <p:cNvPr id="8" name="Text 6"/>
          <p:cNvSpPr/>
          <p:nvPr/>
        </p:nvSpPr>
        <p:spPr>
          <a:xfrm>
            <a:off x="868680" y="4297680"/>
            <a:ext cx="4480560" cy="731520"/>
          </a:xfrm>
          <a:prstGeom prst="rect">
            <a:avLst/>
          </a:prstGeom>
          <a:noFill/>
          <a:ln/>
        </p:spPr>
        <p:txBody>
          <a:bodyPr wrap="square" rtlCol="0" anchor="t"/>
          <a:lstStyle/>
          <a:p>
            <a:pPr indent="0" marL="0">
              <a:lnSpc>
                <a:spcPct val="115000"/>
              </a:lnSpc>
              <a:buNone/>
            </a:pPr>
            <a:r>
              <a:rPr lang="en-US" sz="1400" dirty="0">
                <a:solidFill>
                  <a:srgbClr val="FFFFFF"/>
                </a:solidFill>
                <a:latin typeface="Calibri" pitchFamily="34" charset="0"/>
                <a:ea typeface="Calibri" pitchFamily="34" charset="-122"/>
                <a:cs typeface="Calibri" pitchFamily="34" charset="-120"/>
              </a:rPr>
              <a:t>•  Little practice integrating a database layer</a:t>
            </a:r>
            <a:endParaRPr lang="en-US" sz="1400" dirty="0"/>
          </a:p>
        </p:txBody>
      </p:sp>
      <p:sp>
        <p:nvSpPr>
          <p:cNvPr id="9" name="Shape 7"/>
          <p:cNvSpPr/>
          <p:nvPr/>
        </p:nvSpPr>
        <p:spPr>
          <a:xfrm>
            <a:off x="6126480" y="1783080"/>
            <a:ext cx="5120640" cy="4206240"/>
          </a:xfrm>
          <a:prstGeom prst="roundRect">
            <a:avLst>
              <a:gd name="adj" fmla="val 1739"/>
            </a:avLst>
          </a:prstGeom>
          <a:solidFill>
            <a:srgbClr val="990011"/>
          </a:solidFill>
          <a:ln/>
        </p:spPr>
      </p:sp>
      <p:sp>
        <p:nvSpPr>
          <p:cNvPr id="10" name="Text 8"/>
          <p:cNvSpPr/>
          <p:nvPr/>
        </p:nvSpPr>
        <p:spPr>
          <a:xfrm>
            <a:off x="6446520" y="2057400"/>
            <a:ext cx="4480560" cy="457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This Internship</a:t>
            </a:r>
            <a:endParaRPr lang="en-US" sz="1700" dirty="0"/>
          </a:p>
        </p:txBody>
      </p:sp>
      <p:sp>
        <p:nvSpPr>
          <p:cNvPr id="11" name="Text 9"/>
          <p:cNvSpPr/>
          <p:nvPr/>
        </p:nvSpPr>
        <p:spPr>
          <a:xfrm>
            <a:off x="6446520" y="2743200"/>
            <a:ext cx="4480560" cy="731520"/>
          </a:xfrm>
          <a:prstGeom prst="rect">
            <a:avLst/>
          </a:prstGeom>
          <a:noFill/>
          <a:ln/>
        </p:spPr>
        <p:txBody>
          <a:bodyPr wrap="square" rtlCol="0" anchor="t"/>
          <a:lstStyle/>
          <a:p>
            <a:pPr indent="0" marL="0">
              <a:lnSpc>
                <a:spcPct val="115000"/>
              </a:lnSpc>
              <a:buNone/>
            </a:pPr>
            <a:r>
              <a:rPr lang="en-US" sz="1400" dirty="0">
                <a:solidFill>
                  <a:srgbClr val="FFFFFF"/>
                </a:solidFill>
                <a:latin typeface="Calibri" pitchFamily="34" charset="0"/>
                <a:ea typeface="Calibri" pitchFamily="34" charset="-122"/>
                <a:cs typeface="Calibri" pitchFamily="34" charset="-120"/>
              </a:rPr>
              <a:t>•  End-to-end project workflow, UI to database</a:t>
            </a:r>
            <a:endParaRPr lang="en-US" sz="1400" dirty="0"/>
          </a:p>
        </p:txBody>
      </p:sp>
      <p:sp>
        <p:nvSpPr>
          <p:cNvPr id="12" name="Text 10"/>
          <p:cNvSpPr/>
          <p:nvPr/>
        </p:nvSpPr>
        <p:spPr>
          <a:xfrm>
            <a:off x="6446520" y="3520440"/>
            <a:ext cx="4480560" cy="731520"/>
          </a:xfrm>
          <a:prstGeom prst="rect">
            <a:avLst/>
          </a:prstGeom>
          <a:noFill/>
          <a:ln/>
        </p:spPr>
        <p:txBody>
          <a:bodyPr wrap="square" rtlCol="0" anchor="t"/>
          <a:lstStyle/>
          <a:p>
            <a:pPr indent="0" marL="0">
              <a:lnSpc>
                <a:spcPct val="115000"/>
              </a:lnSpc>
              <a:buNone/>
            </a:pPr>
            <a:r>
              <a:rPr lang="en-US" sz="1400" dirty="0">
                <a:solidFill>
                  <a:srgbClr val="FFFFFF"/>
                </a:solidFill>
                <a:latin typeface="Calibri" pitchFamily="34" charset="0"/>
                <a:ea typeface="Calibri" pitchFamily="34" charset="-122"/>
                <a:cs typeface="Calibri" pitchFamily="34" charset="-120"/>
              </a:rPr>
              <a:t>•  Industry-standard tools and practices</a:t>
            </a:r>
            <a:endParaRPr lang="en-US" sz="1400" dirty="0"/>
          </a:p>
        </p:txBody>
      </p:sp>
      <p:sp>
        <p:nvSpPr>
          <p:cNvPr id="13" name="Text 11"/>
          <p:cNvSpPr/>
          <p:nvPr/>
        </p:nvSpPr>
        <p:spPr>
          <a:xfrm>
            <a:off x="6446520" y="4297680"/>
            <a:ext cx="4480560" cy="731520"/>
          </a:xfrm>
          <a:prstGeom prst="rect">
            <a:avLst/>
          </a:prstGeom>
          <a:noFill/>
          <a:ln/>
        </p:spPr>
        <p:txBody>
          <a:bodyPr wrap="square" rtlCol="0" anchor="t"/>
          <a:lstStyle/>
          <a:p>
            <a:pPr indent="0" marL="0">
              <a:lnSpc>
                <a:spcPct val="115000"/>
              </a:lnSpc>
              <a:buNone/>
            </a:pPr>
            <a:r>
              <a:rPr lang="en-US" sz="1400" dirty="0">
                <a:solidFill>
                  <a:srgbClr val="FFFFFF"/>
                </a:solidFill>
                <a:latin typeface="Calibri" pitchFamily="34" charset="0"/>
                <a:ea typeface="Calibri" pitchFamily="34" charset="-122"/>
                <a:cs typeface="Calibri" pitchFamily="34" charset="-120"/>
              </a:rPr>
              <a:t>•  Mentor-guided, structured 8-week path</a:t>
            </a:r>
            <a:endParaRPr lang="en-US" sz="1400" dirty="0"/>
          </a:p>
        </p:txBody>
      </p:sp>
      <p:pic>
        <p:nvPicPr>
          <p:cNvPr id="14" name="Image 0" descr="/home/claude/unpacked/word/media/image1.png">    </p:cNvPr>
          <p:cNvPicPr>
            <a:picLocks noChangeAspect="1"/>
          </p:cNvPicPr>
          <p:nvPr/>
        </p:nvPicPr>
        <p:blipFill>
          <a:blip r:embed="rId1"/>
          <a:stretch>
            <a:fillRect/>
          </a:stretch>
        </p:blipFill>
        <p:spPr>
          <a:xfrm>
            <a:off x="320040" y="6400800"/>
            <a:ext cx="292608" cy="310896"/>
          </a:xfrm>
          <a:prstGeom prst="rect">
            <a:avLst/>
          </a:prstGeom>
        </p:spPr>
      </p:pic>
      <p:sp>
        <p:nvSpPr>
          <p:cNvPr id="15" name="Text 12"/>
          <p:cNvSpPr/>
          <p:nvPr/>
        </p:nvSpPr>
        <p:spPr>
          <a:xfrm>
            <a:off x="685800" y="6419088"/>
            <a:ext cx="7315200" cy="274320"/>
          </a:xfrm>
          <a:prstGeom prst="rect">
            <a:avLst/>
          </a:prstGeom>
          <a:noFill/>
          <a:ln/>
        </p:spPr>
        <p:txBody>
          <a:bodyPr wrap="square" rtlCol="0" anchor="ctr"/>
          <a:lstStyle/>
          <a:p>
            <a:pPr algn="l" indent="0" marL="0">
              <a:buNone/>
            </a:pPr>
            <a:r>
              <a:rPr lang="en-US" sz="900" dirty="0">
                <a:solidFill>
                  <a:srgbClr val="6B6B6B"/>
                </a:solidFill>
                <a:latin typeface="Calibri" pitchFamily="34" charset="0"/>
                <a:ea typeface="Calibri" pitchFamily="34" charset="-122"/>
                <a:cs typeface="Calibri" pitchFamily="34" charset="-120"/>
              </a:rPr>
              <a:t>Java Full Stack Developer Virtual Internship</a:t>
            </a:r>
            <a:endParaRPr lang="en-US" sz="900" dirty="0"/>
          </a:p>
        </p:txBody>
      </p:sp>
      <p:sp>
        <p:nvSpPr>
          <p:cNvPr id="16" name="Text 13"/>
          <p:cNvSpPr/>
          <p:nvPr/>
        </p:nvSpPr>
        <p:spPr>
          <a:xfrm>
            <a:off x="11368735" y="6419088"/>
            <a:ext cx="548640" cy="274320"/>
          </a:xfrm>
          <a:prstGeom prst="rect">
            <a:avLst/>
          </a:prstGeom>
          <a:noFill/>
          <a:ln/>
        </p:spPr>
        <p:txBody>
          <a:bodyPr wrap="square"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6F5"/>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990011"/>
                </a:solidFill>
                <a:latin typeface="Calibri" pitchFamily="34" charset="0"/>
                <a:ea typeface="Calibri" pitchFamily="34" charset="-122"/>
                <a:cs typeface="Calibri" pitchFamily="34" charset="-120"/>
              </a:rPr>
              <a:t>04 · PROJECT OBJECTIVES</a:t>
            </a:r>
            <a:endParaRPr lang="en-US" sz="1300" dirty="0"/>
          </a:p>
        </p:txBody>
      </p:sp>
      <p:sp>
        <p:nvSpPr>
          <p:cNvPr id="3" name="Text 1"/>
          <p:cNvSpPr/>
          <p:nvPr/>
        </p:nvSpPr>
        <p:spPr>
          <a:xfrm>
            <a:off x="548640" y="658368"/>
            <a:ext cx="10607040" cy="640080"/>
          </a:xfrm>
          <a:prstGeom prst="rect">
            <a:avLst/>
          </a:prstGeom>
          <a:noFill/>
          <a:ln/>
        </p:spPr>
        <p:txBody>
          <a:bodyPr wrap="square" rtlCol="0" anchor="ctr"/>
          <a:lstStyle/>
          <a:p>
            <a:pPr indent="0" marL="0">
              <a:buNone/>
            </a:pPr>
            <a:r>
              <a:rPr lang="en-US" sz="3000" b="1" dirty="0">
                <a:solidFill>
                  <a:srgbClr val="2F3C7E"/>
                </a:solidFill>
                <a:latin typeface="Cambria" pitchFamily="34" charset="0"/>
                <a:ea typeface="Cambria" pitchFamily="34" charset="-122"/>
                <a:cs typeface="Cambria" pitchFamily="34" charset="-120"/>
              </a:rPr>
              <a:t>What the Internship Set Out to Achieve</a:t>
            </a:r>
            <a:endParaRPr lang="en-US" sz="3000" dirty="0"/>
          </a:p>
        </p:txBody>
      </p:sp>
      <p:sp>
        <p:nvSpPr>
          <p:cNvPr id="4" name="Shape 2"/>
          <p:cNvSpPr/>
          <p:nvPr/>
        </p:nvSpPr>
        <p:spPr>
          <a:xfrm>
            <a:off x="548640" y="1691640"/>
            <a:ext cx="530352" cy="530352"/>
          </a:xfrm>
          <a:prstGeom prst="ellipse">
            <a:avLst/>
          </a:prstGeom>
          <a:solidFill>
            <a:srgbClr val="990011"/>
          </a:solidFill>
          <a:ln/>
        </p:spPr>
      </p:sp>
      <p:sp>
        <p:nvSpPr>
          <p:cNvPr id="5" name="Text 3"/>
          <p:cNvSpPr/>
          <p:nvPr/>
        </p:nvSpPr>
        <p:spPr>
          <a:xfrm>
            <a:off x="548640" y="1691640"/>
            <a:ext cx="530352" cy="530352"/>
          </a:xfrm>
          <a:prstGeom prst="rect">
            <a:avLst/>
          </a:prstGeom>
          <a:noFill/>
          <a:ln/>
        </p:spPr>
        <p:txBody>
          <a:bodyPr wrap="square" rtlCol="0" anchor="ctr"/>
          <a:lstStyle/>
          <a:p>
            <a:pPr algn="ctr" indent="0" marL="0">
              <a:buNone/>
            </a:pPr>
            <a:r>
              <a:rPr lang="en-US" sz="1566" b="1" dirty="0">
                <a:solidFill>
                  <a:srgbClr val="FFFFFF"/>
                </a:solidFill>
                <a:latin typeface="Calibri" pitchFamily="34" charset="0"/>
                <a:ea typeface="Calibri" pitchFamily="34" charset="-122"/>
                <a:cs typeface="Calibri" pitchFamily="34" charset="-120"/>
              </a:rPr>
              <a:t>1</a:t>
            </a:r>
            <a:endParaRPr lang="en-US" sz="1566" dirty="0"/>
          </a:p>
        </p:txBody>
      </p:sp>
      <p:sp>
        <p:nvSpPr>
          <p:cNvPr id="6" name="Shape 4"/>
          <p:cNvSpPr/>
          <p:nvPr/>
        </p:nvSpPr>
        <p:spPr>
          <a:xfrm>
            <a:off x="1371600" y="1956816"/>
            <a:ext cx="9784080" cy="0"/>
          </a:xfrm>
          <a:prstGeom prst="line">
            <a:avLst/>
          </a:prstGeom>
          <a:noFill/>
          <a:ln w="12700">
            <a:solidFill>
              <a:srgbClr val="E6DFDC"/>
            </a:solidFill>
            <a:prstDash val="solid"/>
          </a:ln>
        </p:spPr>
      </p:sp>
      <p:sp>
        <p:nvSpPr>
          <p:cNvPr id="7" name="Text 5"/>
          <p:cNvSpPr/>
          <p:nvPr/>
        </p:nvSpPr>
        <p:spPr>
          <a:xfrm>
            <a:off x="1371600" y="1618488"/>
            <a:ext cx="9784080" cy="685800"/>
          </a:xfrm>
          <a:prstGeom prst="rect">
            <a:avLst/>
          </a:prstGeom>
          <a:noFill/>
          <a:ln/>
        </p:spPr>
        <p:txBody>
          <a:bodyPr wrap="square" rtlCol="0" anchor="ctr"/>
          <a:lstStyle/>
          <a:p>
            <a:pPr indent="0" marL="0">
              <a:buNone/>
            </a:pPr>
            <a:r>
              <a:rPr lang="en-US" sz="1550" dirty="0">
                <a:solidFill>
                  <a:srgbClr val="222222"/>
                </a:solidFill>
                <a:latin typeface="Calibri" pitchFamily="34" charset="0"/>
                <a:ea typeface="Calibri" pitchFamily="34" charset="-122"/>
                <a:cs typeface="Calibri" pitchFamily="34" charset="-120"/>
              </a:rPr>
              <a:t>Understand and apply core Object-Oriented Programming principles using Java</a:t>
            </a:r>
            <a:endParaRPr lang="en-US" sz="1550" dirty="0"/>
          </a:p>
        </p:txBody>
      </p:sp>
      <p:sp>
        <p:nvSpPr>
          <p:cNvPr id="8" name="Shape 6"/>
          <p:cNvSpPr/>
          <p:nvPr/>
        </p:nvSpPr>
        <p:spPr>
          <a:xfrm>
            <a:off x="548640" y="2532888"/>
            <a:ext cx="530352" cy="530352"/>
          </a:xfrm>
          <a:prstGeom prst="ellipse">
            <a:avLst/>
          </a:prstGeom>
          <a:solidFill>
            <a:srgbClr val="990011"/>
          </a:solidFill>
          <a:ln/>
        </p:spPr>
      </p:sp>
      <p:sp>
        <p:nvSpPr>
          <p:cNvPr id="9" name="Text 7"/>
          <p:cNvSpPr/>
          <p:nvPr/>
        </p:nvSpPr>
        <p:spPr>
          <a:xfrm>
            <a:off x="548640" y="2532888"/>
            <a:ext cx="530352" cy="530352"/>
          </a:xfrm>
          <a:prstGeom prst="rect">
            <a:avLst/>
          </a:prstGeom>
          <a:noFill/>
          <a:ln/>
        </p:spPr>
        <p:txBody>
          <a:bodyPr wrap="square" rtlCol="0" anchor="ctr"/>
          <a:lstStyle/>
          <a:p>
            <a:pPr algn="ctr" indent="0" marL="0">
              <a:buNone/>
            </a:pPr>
            <a:r>
              <a:rPr lang="en-US" sz="1566" b="1" dirty="0">
                <a:solidFill>
                  <a:srgbClr val="FFFFFF"/>
                </a:solidFill>
                <a:latin typeface="Calibri" pitchFamily="34" charset="0"/>
                <a:ea typeface="Calibri" pitchFamily="34" charset="-122"/>
                <a:cs typeface="Calibri" pitchFamily="34" charset="-120"/>
              </a:rPr>
              <a:t>2</a:t>
            </a:r>
            <a:endParaRPr lang="en-US" sz="1566" dirty="0"/>
          </a:p>
        </p:txBody>
      </p:sp>
      <p:sp>
        <p:nvSpPr>
          <p:cNvPr id="10" name="Shape 8"/>
          <p:cNvSpPr/>
          <p:nvPr/>
        </p:nvSpPr>
        <p:spPr>
          <a:xfrm>
            <a:off x="1371600" y="2798064"/>
            <a:ext cx="9784080" cy="0"/>
          </a:xfrm>
          <a:prstGeom prst="line">
            <a:avLst/>
          </a:prstGeom>
          <a:noFill/>
          <a:ln w="12700">
            <a:solidFill>
              <a:srgbClr val="E6DFDC"/>
            </a:solidFill>
            <a:prstDash val="solid"/>
          </a:ln>
        </p:spPr>
      </p:sp>
      <p:sp>
        <p:nvSpPr>
          <p:cNvPr id="11" name="Text 9"/>
          <p:cNvSpPr/>
          <p:nvPr/>
        </p:nvSpPr>
        <p:spPr>
          <a:xfrm>
            <a:off x="1371600" y="2459736"/>
            <a:ext cx="9784080" cy="685800"/>
          </a:xfrm>
          <a:prstGeom prst="rect">
            <a:avLst/>
          </a:prstGeom>
          <a:noFill/>
          <a:ln/>
        </p:spPr>
        <p:txBody>
          <a:bodyPr wrap="square" rtlCol="0" anchor="ctr"/>
          <a:lstStyle/>
          <a:p>
            <a:pPr indent="0" marL="0">
              <a:buNone/>
            </a:pPr>
            <a:r>
              <a:rPr lang="en-US" sz="1550" dirty="0">
                <a:solidFill>
                  <a:srgbClr val="222222"/>
                </a:solidFill>
                <a:latin typeface="Calibri" pitchFamily="34" charset="0"/>
                <a:ea typeface="Calibri" pitchFamily="34" charset="-122"/>
                <a:cs typeface="Calibri" pitchFamily="34" charset="-120"/>
              </a:rPr>
              <a:t>Design responsive front-ends using HTML, CSS and JavaScript</a:t>
            </a:r>
            <a:endParaRPr lang="en-US" sz="1550" dirty="0"/>
          </a:p>
        </p:txBody>
      </p:sp>
      <p:sp>
        <p:nvSpPr>
          <p:cNvPr id="12" name="Shape 10"/>
          <p:cNvSpPr/>
          <p:nvPr/>
        </p:nvSpPr>
        <p:spPr>
          <a:xfrm>
            <a:off x="548640" y="3374136"/>
            <a:ext cx="530352" cy="530352"/>
          </a:xfrm>
          <a:prstGeom prst="ellipse">
            <a:avLst/>
          </a:prstGeom>
          <a:solidFill>
            <a:srgbClr val="990011"/>
          </a:solidFill>
          <a:ln/>
        </p:spPr>
      </p:sp>
      <p:sp>
        <p:nvSpPr>
          <p:cNvPr id="13" name="Text 11"/>
          <p:cNvSpPr/>
          <p:nvPr/>
        </p:nvSpPr>
        <p:spPr>
          <a:xfrm>
            <a:off x="548640" y="3374136"/>
            <a:ext cx="530352" cy="530352"/>
          </a:xfrm>
          <a:prstGeom prst="rect">
            <a:avLst/>
          </a:prstGeom>
          <a:noFill/>
          <a:ln/>
        </p:spPr>
        <p:txBody>
          <a:bodyPr wrap="square" rtlCol="0" anchor="ctr"/>
          <a:lstStyle/>
          <a:p>
            <a:pPr algn="ctr" indent="0" marL="0">
              <a:buNone/>
            </a:pPr>
            <a:r>
              <a:rPr lang="en-US" sz="1566" b="1" dirty="0">
                <a:solidFill>
                  <a:srgbClr val="FFFFFF"/>
                </a:solidFill>
                <a:latin typeface="Calibri" pitchFamily="34" charset="0"/>
                <a:ea typeface="Calibri" pitchFamily="34" charset="-122"/>
                <a:cs typeface="Calibri" pitchFamily="34" charset="-120"/>
              </a:rPr>
              <a:t>3</a:t>
            </a:r>
            <a:endParaRPr lang="en-US" sz="1566" dirty="0"/>
          </a:p>
        </p:txBody>
      </p:sp>
      <p:sp>
        <p:nvSpPr>
          <p:cNvPr id="14" name="Shape 12"/>
          <p:cNvSpPr/>
          <p:nvPr/>
        </p:nvSpPr>
        <p:spPr>
          <a:xfrm>
            <a:off x="1371600" y="3639312"/>
            <a:ext cx="9784080" cy="0"/>
          </a:xfrm>
          <a:prstGeom prst="line">
            <a:avLst/>
          </a:prstGeom>
          <a:noFill/>
          <a:ln w="12700">
            <a:solidFill>
              <a:srgbClr val="E6DFDC"/>
            </a:solidFill>
            <a:prstDash val="solid"/>
          </a:ln>
        </p:spPr>
      </p:sp>
      <p:sp>
        <p:nvSpPr>
          <p:cNvPr id="15" name="Text 13"/>
          <p:cNvSpPr/>
          <p:nvPr/>
        </p:nvSpPr>
        <p:spPr>
          <a:xfrm>
            <a:off x="1371600" y="3300984"/>
            <a:ext cx="9784080" cy="685800"/>
          </a:xfrm>
          <a:prstGeom prst="rect">
            <a:avLst/>
          </a:prstGeom>
          <a:noFill/>
          <a:ln/>
        </p:spPr>
        <p:txBody>
          <a:bodyPr wrap="square" rtlCol="0" anchor="ctr"/>
          <a:lstStyle/>
          <a:p>
            <a:pPr indent="0" marL="0">
              <a:buNone/>
            </a:pPr>
            <a:r>
              <a:rPr lang="en-US" sz="1550" dirty="0">
                <a:solidFill>
                  <a:srgbClr val="222222"/>
                </a:solidFill>
                <a:latin typeface="Calibri" pitchFamily="34" charset="0"/>
                <a:ea typeface="Calibri" pitchFamily="34" charset="-122"/>
                <a:cs typeface="Calibri" pitchFamily="34" charset="-120"/>
              </a:rPr>
              <a:t>Build REST APIs and server-side logic using Spring and Spring Boot</a:t>
            </a:r>
            <a:endParaRPr lang="en-US" sz="1550" dirty="0"/>
          </a:p>
        </p:txBody>
      </p:sp>
      <p:sp>
        <p:nvSpPr>
          <p:cNvPr id="16" name="Shape 14"/>
          <p:cNvSpPr/>
          <p:nvPr/>
        </p:nvSpPr>
        <p:spPr>
          <a:xfrm>
            <a:off x="548640" y="4215384"/>
            <a:ext cx="530352" cy="530352"/>
          </a:xfrm>
          <a:prstGeom prst="ellipse">
            <a:avLst/>
          </a:prstGeom>
          <a:solidFill>
            <a:srgbClr val="990011"/>
          </a:solidFill>
          <a:ln/>
        </p:spPr>
      </p:sp>
      <p:sp>
        <p:nvSpPr>
          <p:cNvPr id="17" name="Text 15"/>
          <p:cNvSpPr/>
          <p:nvPr/>
        </p:nvSpPr>
        <p:spPr>
          <a:xfrm>
            <a:off x="548640" y="4215384"/>
            <a:ext cx="530352" cy="530352"/>
          </a:xfrm>
          <a:prstGeom prst="rect">
            <a:avLst/>
          </a:prstGeom>
          <a:noFill/>
          <a:ln/>
        </p:spPr>
        <p:txBody>
          <a:bodyPr wrap="square" rtlCol="0" anchor="ctr"/>
          <a:lstStyle/>
          <a:p>
            <a:pPr algn="ctr" indent="0" marL="0">
              <a:buNone/>
            </a:pPr>
            <a:r>
              <a:rPr lang="en-US" sz="1566" b="1" dirty="0">
                <a:solidFill>
                  <a:srgbClr val="FFFFFF"/>
                </a:solidFill>
                <a:latin typeface="Calibri" pitchFamily="34" charset="0"/>
                <a:ea typeface="Calibri" pitchFamily="34" charset="-122"/>
                <a:cs typeface="Calibri" pitchFamily="34" charset="-120"/>
              </a:rPr>
              <a:t>4</a:t>
            </a:r>
            <a:endParaRPr lang="en-US" sz="1566" dirty="0"/>
          </a:p>
        </p:txBody>
      </p:sp>
      <p:sp>
        <p:nvSpPr>
          <p:cNvPr id="18" name="Shape 16"/>
          <p:cNvSpPr/>
          <p:nvPr/>
        </p:nvSpPr>
        <p:spPr>
          <a:xfrm>
            <a:off x="1371600" y="4480560"/>
            <a:ext cx="9784080" cy="0"/>
          </a:xfrm>
          <a:prstGeom prst="line">
            <a:avLst/>
          </a:prstGeom>
          <a:noFill/>
          <a:ln w="12700">
            <a:solidFill>
              <a:srgbClr val="E6DFDC"/>
            </a:solidFill>
            <a:prstDash val="solid"/>
          </a:ln>
        </p:spPr>
      </p:sp>
      <p:sp>
        <p:nvSpPr>
          <p:cNvPr id="19" name="Text 17"/>
          <p:cNvSpPr/>
          <p:nvPr/>
        </p:nvSpPr>
        <p:spPr>
          <a:xfrm>
            <a:off x="1371600" y="4142232"/>
            <a:ext cx="9784080" cy="685800"/>
          </a:xfrm>
          <a:prstGeom prst="rect">
            <a:avLst/>
          </a:prstGeom>
          <a:noFill/>
          <a:ln/>
        </p:spPr>
        <p:txBody>
          <a:bodyPr wrap="square" rtlCol="0" anchor="ctr"/>
          <a:lstStyle/>
          <a:p>
            <a:pPr indent="0" marL="0">
              <a:buNone/>
            </a:pPr>
            <a:r>
              <a:rPr lang="en-US" sz="1550" dirty="0">
                <a:solidFill>
                  <a:srgbClr val="222222"/>
                </a:solidFill>
                <a:latin typeface="Calibri" pitchFamily="34" charset="0"/>
                <a:ea typeface="Calibri" pitchFamily="34" charset="-122"/>
                <a:cs typeface="Calibri" pitchFamily="34" charset="-120"/>
              </a:rPr>
              <a:t>Integrate applications with a MySQL database via JDBC/Hibernate</a:t>
            </a:r>
            <a:endParaRPr lang="en-US" sz="1550" dirty="0"/>
          </a:p>
        </p:txBody>
      </p:sp>
      <p:sp>
        <p:nvSpPr>
          <p:cNvPr id="20" name="Shape 18"/>
          <p:cNvSpPr/>
          <p:nvPr/>
        </p:nvSpPr>
        <p:spPr>
          <a:xfrm>
            <a:off x="548640" y="5056632"/>
            <a:ext cx="530352" cy="530352"/>
          </a:xfrm>
          <a:prstGeom prst="ellipse">
            <a:avLst/>
          </a:prstGeom>
          <a:solidFill>
            <a:srgbClr val="990011"/>
          </a:solidFill>
          <a:ln/>
        </p:spPr>
      </p:sp>
      <p:sp>
        <p:nvSpPr>
          <p:cNvPr id="21" name="Text 19"/>
          <p:cNvSpPr/>
          <p:nvPr/>
        </p:nvSpPr>
        <p:spPr>
          <a:xfrm>
            <a:off x="548640" y="5056632"/>
            <a:ext cx="530352" cy="530352"/>
          </a:xfrm>
          <a:prstGeom prst="rect">
            <a:avLst/>
          </a:prstGeom>
          <a:noFill/>
          <a:ln/>
        </p:spPr>
        <p:txBody>
          <a:bodyPr wrap="square" rtlCol="0" anchor="ctr"/>
          <a:lstStyle/>
          <a:p>
            <a:pPr algn="ctr" indent="0" marL="0">
              <a:buNone/>
            </a:pPr>
            <a:r>
              <a:rPr lang="en-US" sz="1566" b="1" dirty="0">
                <a:solidFill>
                  <a:srgbClr val="FFFFFF"/>
                </a:solidFill>
                <a:latin typeface="Calibri" pitchFamily="34" charset="0"/>
                <a:ea typeface="Calibri" pitchFamily="34" charset="-122"/>
                <a:cs typeface="Calibri" pitchFamily="34" charset="-120"/>
              </a:rPr>
              <a:t>5</a:t>
            </a:r>
            <a:endParaRPr lang="en-US" sz="1566" dirty="0"/>
          </a:p>
        </p:txBody>
      </p:sp>
      <p:sp>
        <p:nvSpPr>
          <p:cNvPr id="22" name="Shape 20"/>
          <p:cNvSpPr/>
          <p:nvPr/>
        </p:nvSpPr>
        <p:spPr>
          <a:xfrm>
            <a:off x="1371600" y="5321808"/>
            <a:ext cx="9784080" cy="0"/>
          </a:xfrm>
          <a:prstGeom prst="line">
            <a:avLst/>
          </a:prstGeom>
          <a:noFill/>
          <a:ln w="12700">
            <a:solidFill>
              <a:srgbClr val="E6DFDC"/>
            </a:solidFill>
            <a:prstDash val="solid"/>
          </a:ln>
        </p:spPr>
      </p:sp>
      <p:sp>
        <p:nvSpPr>
          <p:cNvPr id="23" name="Text 21"/>
          <p:cNvSpPr/>
          <p:nvPr/>
        </p:nvSpPr>
        <p:spPr>
          <a:xfrm>
            <a:off x="1371600" y="4983480"/>
            <a:ext cx="9784080" cy="685800"/>
          </a:xfrm>
          <a:prstGeom prst="rect">
            <a:avLst/>
          </a:prstGeom>
          <a:noFill/>
          <a:ln/>
        </p:spPr>
        <p:txBody>
          <a:bodyPr wrap="square" rtlCol="0" anchor="ctr"/>
          <a:lstStyle/>
          <a:p>
            <a:pPr indent="0" marL="0">
              <a:buNone/>
            </a:pPr>
            <a:r>
              <a:rPr lang="en-US" sz="1550" dirty="0">
                <a:solidFill>
                  <a:srgbClr val="222222"/>
                </a:solidFill>
                <a:latin typeface="Calibri" pitchFamily="34" charset="0"/>
                <a:ea typeface="Calibri" pitchFamily="34" charset="-122"/>
                <a:cs typeface="Calibri" pitchFamily="34" charset="-120"/>
              </a:rPr>
              <a:t>Gain hands-on experience with professional tools such as Git, Maven and Postman</a:t>
            </a:r>
            <a:endParaRPr lang="en-US" sz="1550" dirty="0"/>
          </a:p>
        </p:txBody>
      </p:sp>
      <p:pic>
        <p:nvPicPr>
          <p:cNvPr id="24" name="Image 0" descr="/home/claude/unpacked/word/media/image1.png">    </p:cNvPr>
          <p:cNvPicPr>
            <a:picLocks noChangeAspect="1"/>
          </p:cNvPicPr>
          <p:nvPr/>
        </p:nvPicPr>
        <p:blipFill>
          <a:blip r:embed="rId1"/>
          <a:stretch>
            <a:fillRect/>
          </a:stretch>
        </p:blipFill>
        <p:spPr>
          <a:xfrm>
            <a:off x="320040" y="6400800"/>
            <a:ext cx="292608" cy="310896"/>
          </a:xfrm>
          <a:prstGeom prst="rect">
            <a:avLst/>
          </a:prstGeom>
        </p:spPr>
      </p:pic>
      <p:sp>
        <p:nvSpPr>
          <p:cNvPr id="25" name="Text 22"/>
          <p:cNvSpPr/>
          <p:nvPr/>
        </p:nvSpPr>
        <p:spPr>
          <a:xfrm>
            <a:off x="685800" y="6419088"/>
            <a:ext cx="7315200" cy="274320"/>
          </a:xfrm>
          <a:prstGeom prst="rect">
            <a:avLst/>
          </a:prstGeom>
          <a:noFill/>
          <a:ln/>
        </p:spPr>
        <p:txBody>
          <a:bodyPr wrap="square" rtlCol="0" anchor="ctr"/>
          <a:lstStyle/>
          <a:p>
            <a:pPr algn="l" indent="0" marL="0">
              <a:buNone/>
            </a:pPr>
            <a:r>
              <a:rPr lang="en-US" sz="900" dirty="0">
                <a:solidFill>
                  <a:srgbClr val="6B6B6B"/>
                </a:solidFill>
                <a:latin typeface="Calibri" pitchFamily="34" charset="0"/>
                <a:ea typeface="Calibri" pitchFamily="34" charset="-122"/>
                <a:cs typeface="Calibri" pitchFamily="34" charset="-120"/>
              </a:rPr>
              <a:t>Java Full Stack Developer Virtual Internship</a:t>
            </a:r>
            <a:endParaRPr lang="en-US" sz="900" dirty="0"/>
          </a:p>
        </p:txBody>
      </p:sp>
      <p:sp>
        <p:nvSpPr>
          <p:cNvPr id="26" name="Text 23"/>
          <p:cNvSpPr/>
          <p:nvPr/>
        </p:nvSpPr>
        <p:spPr>
          <a:xfrm>
            <a:off x="11368735" y="6419088"/>
            <a:ext cx="548640" cy="274320"/>
          </a:xfrm>
          <a:prstGeom prst="rect">
            <a:avLst/>
          </a:prstGeom>
          <a:noFill/>
          <a:ln/>
        </p:spPr>
        <p:txBody>
          <a:bodyPr wrap="square"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6F5"/>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990011"/>
                </a:solidFill>
                <a:latin typeface="Calibri" pitchFamily="34" charset="0"/>
                <a:ea typeface="Calibri" pitchFamily="34" charset="-122"/>
                <a:cs typeface="Calibri" pitchFamily="34" charset="-120"/>
              </a:rPr>
              <a:t>05 · SCOPE OF THE PROJECT</a:t>
            </a:r>
            <a:endParaRPr lang="en-US" sz="1300" dirty="0"/>
          </a:p>
        </p:txBody>
      </p:sp>
      <p:sp>
        <p:nvSpPr>
          <p:cNvPr id="3" name="Text 1"/>
          <p:cNvSpPr/>
          <p:nvPr/>
        </p:nvSpPr>
        <p:spPr>
          <a:xfrm>
            <a:off x="548640" y="658368"/>
            <a:ext cx="10607040" cy="640080"/>
          </a:xfrm>
          <a:prstGeom prst="rect">
            <a:avLst/>
          </a:prstGeom>
          <a:noFill/>
          <a:ln/>
        </p:spPr>
        <p:txBody>
          <a:bodyPr wrap="square" rtlCol="0" anchor="ctr"/>
          <a:lstStyle/>
          <a:p>
            <a:pPr indent="0" marL="0">
              <a:buNone/>
            </a:pPr>
            <a:r>
              <a:rPr lang="en-US" sz="3000" b="1" dirty="0">
                <a:solidFill>
                  <a:srgbClr val="2F3C7E"/>
                </a:solidFill>
                <a:latin typeface="Cambria" pitchFamily="34" charset="0"/>
                <a:ea typeface="Cambria" pitchFamily="34" charset="-122"/>
                <a:cs typeface="Cambria" pitchFamily="34" charset="-120"/>
              </a:rPr>
              <a:t>Full Spectrum of Full Stack Development</a:t>
            </a:r>
            <a:endParaRPr lang="en-US" sz="3000" dirty="0"/>
          </a:p>
        </p:txBody>
      </p:sp>
      <p:sp>
        <p:nvSpPr>
          <p:cNvPr id="4" name="Shape 2"/>
          <p:cNvSpPr/>
          <p:nvPr/>
        </p:nvSpPr>
        <p:spPr>
          <a:xfrm>
            <a:off x="1280160" y="1783080"/>
            <a:ext cx="9601200" cy="1051560"/>
          </a:xfrm>
          <a:prstGeom prst="roundRect">
            <a:avLst>
              <a:gd name="adj" fmla="val 6957"/>
            </a:avLst>
          </a:prstGeom>
          <a:solidFill>
            <a:srgbClr val="990011"/>
          </a:solidFill>
          <a:ln/>
        </p:spPr>
      </p:sp>
      <p:sp>
        <p:nvSpPr>
          <p:cNvPr id="5" name="Text 3"/>
          <p:cNvSpPr/>
          <p:nvPr/>
        </p:nvSpPr>
        <p:spPr>
          <a:xfrm>
            <a:off x="1645920" y="1783080"/>
            <a:ext cx="8869680" cy="502920"/>
          </a:xfrm>
          <a:prstGeom prst="rect">
            <a:avLst/>
          </a:prstGeom>
          <a:noFill/>
          <a:ln/>
        </p:spPr>
        <p:txBody>
          <a:bodyPr wrap="square" rtlCol="0" anchor="b"/>
          <a:lstStyle/>
          <a:p>
            <a:pPr indent="0" marL="0">
              <a:buNone/>
            </a:pPr>
            <a:r>
              <a:rPr lang="en-US" sz="1700" b="1" dirty="0">
                <a:solidFill>
                  <a:srgbClr val="FFFFFF"/>
                </a:solidFill>
                <a:latin typeface="Calibri" pitchFamily="34" charset="0"/>
                <a:ea typeface="Calibri" pitchFamily="34" charset="-122"/>
                <a:cs typeface="Calibri" pitchFamily="34" charset="-120"/>
              </a:rPr>
              <a:t>Presentation Layer</a:t>
            </a:r>
            <a:endParaRPr lang="en-US" sz="1700" dirty="0"/>
          </a:p>
        </p:txBody>
      </p:sp>
      <p:sp>
        <p:nvSpPr>
          <p:cNvPr id="6" name="Text 4"/>
          <p:cNvSpPr/>
          <p:nvPr/>
        </p:nvSpPr>
        <p:spPr>
          <a:xfrm>
            <a:off x="1645920" y="2286000"/>
            <a:ext cx="8869680" cy="457200"/>
          </a:xfrm>
          <a:prstGeom prst="rect">
            <a:avLst/>
          </a:prstGeom>
          <a:noFill/>
          <a:ln/>
        </p:spPr>
        <p:txBody>
          <a:bodyPr wrap="square" rtlCol="0" anchor="t"/>
          <a:lstStyle/>
          <a:p>
            <a:pPr indent="0" marL="0">
              <a:buNone/>
            </a:pPr>
            <a:r>
              <a:rPr lang="en-US" sz="1250" dirty="0">
                <a:solidFill>
                  <a:srgbClr val="F2F2F2"/>
                </a:solidFill>
                <a:latin typeface="Calibri" pitchFamily="34" charset="0"/>
                <a:ea typeface="Calibri" pitchFamily="34" charset="-122"/>
                <a:cs typeface="Calibri" pitchFamily="34" charset="-120"/>
              </a:rPr>
              <a:t>HTML, CSS &amp; JavaScript — the user-facing interface</a:t>
            </a:r>
            <a:endParaRPr lang="en-US" sz="1250" dirty="0"/>
          </a:p>
        </p:txBody>
      </p:sp>
      <p:sp>
        <p:nvSpPr>
          <p:cNvPr id="7" name="Shape 5"/>
          <p:cNvSpPr/>
          <p:nvPr/>
        </p:nvSpPr>
        <p:spPr>
          <a:xfrm>
            <a:off x="1691640" y="3090672"/>
            <a:ext cx="8778240" cy="1051560"/>
          </a:xfrm>
          <a:prstGeom prst="roundRect">
            <a:avLst>
              <a:gd name="adj" fmla="val 6957"/>
            </a:avLst>
          </a:prstGeom>
          <a:solidFill>
            <a:srgbClr val="2F3C7E"/>
          </a:solidFill>
          <a:ln/>
        </p:spPr>
      </p:sp>
      <p:sp>
        <p:nvSpPr>
          <p:cNvPr id="8" name="Text 6"/>
          <p:cNvSpPr/>
          <p:nvPr/>
        </p:nvSpPr>
        <p:spPr>
          <a:xfrm>
            <a:off x="2057400" y="3090672"/>
            <a:ext cx="8046720" cy="502920"/>
          </a:xfrm>
          <a:prstGeom prst="rect">
            <a:avLst/>
          </a:prstGeom>
          <a:noFill/>
          <a:ln/>
        </p:spPr>
        <p:txBody>
          <a:bodyPr wrap="square" rtlCol="0" anchor="b"/>
          <a:lstStyle/>
          <a:p>
            <a:pPr indent="0" marL="0">
              <a:buNone/>
            </a:pPr>
            <a:r>
              <a:rPr lang="en-US" sz="1700" b="1" dirty="0">
                <a:solidFill>
                  <a:srgbClr val="FFFFFF"/>
                </a:solidFill>
                <a:latin typeface="Calibri" pitchFamily="34" charset="0"/>
                <a:ea typeface="Calibri" pitchFamily="34" charset="-122"/>
                <a:cs typeface="Calibri" pitchFamily="34" charset="-120"/>
              </a:rPr>
              <a:t>Application Logic</a:t>
            </a:r>
            <a:endParaRPr lang="en-US" sz="1700" dirty="0"/>
          </a:p>
        </p:txBody>
      </p:sp>
      <p:sp>
        <p:nvSpPr>
          <p:cNvPr id="9" name="Text 7"/>
          <p:cNvSpPr/>
          <p:nvPr/>
        </p:nvSpPr>
        <p:spPr>
          <a:xfrm>
            <a:off x="2057400" y="3593592"/>
            <a:ext cx="8046720" cy="457200"/>
          </a:xfrm>
          <a:prstGeom prst="rect">
            <a:avLst/>
          </a:prstGeom>
          <a:noFill/>
          <a:ln/>
        </p:spPr>
        <p:txBody>
          <a:bodyPr wrap="square" rtlCol="0" anchor="t"/>
          <a:lstStyle/>
          <a:p>
            <a:pPr indent="0" marL="0">
              <a:buNone/>
            </a:pPr>
            <a:r>
              <a:rPr lang="en-US" sz="1250" dirty="0">
                <a:solidFill>
                  <a:srgbClr val="F2F2F2"/>
                </a:solidFill>
                <a:latin typeface="Calibri" pitchFamily="34" charset="0"/>
                <a:ea typeface="Calibri" pitchFamily="34" charset="-122"/>
                <a:cs typeface="Calibri" pitchFamily="34" charset="-120"/>
              </a:rPr>
              <a:t>Core Java &amp; Spring Boot — business rules and REST APIs</a:t>
            </a:r>
            <a:endParaRPr lang="en-US" sz="1250" dirty="0"/>
          </a:p>
        </p:txBody>
      </p:sp>
      <p:sp>
        <p:nvSpPr>
          <p:cNvPr id="10" name="Shape 8"/>
          <p:cNvSpPr/>
          <p:nvPr/>
        </p:nvSpPr>
        <p:spPr>
          <a:xfrm>
            <a:off x="2103120" y="4398264"/>
            <a:ext cx="7955280" cy="1051560"/>
          </a:xfrm>
          <a:prstGeom prst="roundRect">
            <a:avLst>
              <a:gd name="adj" fmla="val 6957"/>
            </a:avLst>
          </a:prstGeom>
          <a:solidFill>
            <a:srgbClr val="5B6B9E"/>
          </a:solidFill>
          <a:ln/>
        </p:spPr>
      </p:sp>
      <p:sp>
        <p:nvSpPr>
          <p:cNvPr id="11" name="Text 9"/>
          <p:cNvSpPr/>
          <p:nvPr/>
        </p:nvSpPr>
        <p:spPr>
          <a:xfrm>
            <a:off x="2468880" y="4398264"/>
            <a:ext cx="7223760" cy="502920"/>
          </a:xfrm>
          <a:prstGeom prst="rect">
            <a:avLst/>
          </a:prstGeom>
          <a:noFill/>
          <a:ln/>
        </p:spPr>
        <p:txBody>
          <a:bodyPr wrap="square" rtlCol="0" anchor="b"/>
          <a:lstStyle/>
          <a:p>
            <a:pPr indent="0" marL="0">
              <a:buNone/>
            </a:pPr>
            <a:r>
              <a:rPr lang="en-US" sz="1700" b="1" dirty="0">
                <a:solidFill>
                  <a:srgbClr val="FFFFFF"/>
                </a:solidFill>
                <a:latin typeface="Calibri" pitchFamily="34" charset="0"/>
                <a:ea typeface="Calibri" pitchFamily="34" charset="-122"/>
                <a:cs typeface="Calibri" pitchFamily="34" charset="-120"/>
              </a:rPr>
              <a:t>Data Layer</a:t>
            </a:r>
            <a:endParaRPr lang="en-US" sz="1700" dirty="0"/>
          </a:p>
        </p:txBody>
      </p:sp>
      <p:sp>
        <p:nvSpPr>
          <p:cNvPr id="12" name="Text 10"/>
          <p:cNvSpPr/>
          <p:nvPr/>
        </p:nvSpPr>
        <p:spPr>
          <a:xfrm>
            <a:off x="2468880" y="4901184"/>
            <a:ext cx="7223760" cy="457200"/>
          </a:xfrm>
          <a:prstGeom prst="rect">
            <a:avLst/>
          </a:prstGeom>
          <a:noFill/>
          <a:ln/>
        </p:spPr>
        <p:txBody>
          <a:bodyPr wrap="square" rtlCol="0" anchor="t"/>
          <a:lstStyle/>
          <a:p>
            <a:pPr indent="0" marL="0">
              <a:buNone/>
            </a:pPr>
            <a:r>
              <a:rPr lang="en-US" sz="1250" dirty="0">
                <a:solidFill>
                  <a:srgbClr val="F2F2F2"/>
                </a:solidFill>
                <a:latin typeface="Calibri" pitchFamily="34" charset="0"/>
                <a:ea typeface="Calibri" pitchFamily="34" charset="-122"/>
                <a:cs typeface="Calibri" pitchFamily="34" charset="-120"/>
              </a:rPr>
              <a:t>MySQL via JDBC/Hibernate — storage and retrieval</a:t>
            </a:r>
            <a:endParaRPr lang="en-US" sz="1250" dirty="0"/>
          </a:p>
        </p:txBody>
      </p:sp>
      <p:sp>
        <p:nvSpPr>
          <p:cNvPr id="13" name="Text 11"/>
          <p:cNvSpPr/>
          <p:nvPr/>
        </p:nvSpPr>
        <p:spPr>
          <a:xfrm>
            <a:off x="1280160" y="5751576"/>
            <a:ext cx="9601200" cy="548640"/>
          </a:xfrm>
          <a:prstGeom prst="rect">
            <a:avLst/>
          </a:prstGeom>
          <a:noFill/>
          <a:ln/>
        </p:spPr>
        <p:txBody>
          <a:bodyPr wrap="square" rtlCol="0" anchor="ctr"/>
          <a:lstStyle/>
          <a:p>
            <a:pPr algn="ctr" indent="0" marL="0">
              <a:buNone/>
            </a:pPr>
            <a:r>
              <a:rPr lang="en-US" sz="1250" i="1" dirty="0">
                <a:solidFill>
                  <a:srgbClr val="6B6B6B"/>
                </a:solidFill>
                <a:latin typeface="Calibri" pitchFamily="34" charset="0"/>
                <a:ea typeface="Calibri" pitchFamily="34" charset="-122"/>
                <a:cs typeface="Calibri" pitchFamily="34" charset="-120"/>
              </a:rPr>
              <a:t>The curriculum progressed from foundational concepts to advanced topics — API design, security basics and deployment — giving a holistic view of how a modern web application is built end-to-end.</a:t>
            </a:r>
            <a:endParaRPr lang="en-US" sz="1250" dirty="0"/>
          </a:p>
        </p:txBody>
      </p:sp>
      <p:pic>
        <p:nvPicPr>
          <p:cNvPr id="14" name="Image 0" descr="/home/claude/unpacked/word/media/image1.png">    </p:cNvPr>
          <p:cNvPicPr>
            <a:picLocks noChangeAspect="1"/>
          </p:cNvPicPr>
          <p:nvPr/>
        </p:nvPicPr>
        <p:blipFill>
          <a:blip r:embed="rId1"/>
          <a:stretch>
            <a:fillRect/>
          </a:stretch>
        </p:blipFill>
        <p:spPr>
          <a:xfrm>
            <a:off x="320040" y="6400800"/>
            <a:ext cx="292608" cy="310896"/>
          </a:xfrm>
          <a:prstGeom prst="rect">
            <a:avLst/>
          </a:prstGeom>
        </p:spPr>
      </p:pic>
      <p:sp>
        <p:nvSpPr>
          <p:cNvPr id="15" name="Text 12"/>
          <p:cNvSpPr/>
          <p:nvPr/>
        </p:nvSpPr>
        <p:spPr>
          <a:xfrm>
            <a:off x="685800" y="6419088"/>
            <a:ext cx="7315200" cy="274320"/>
          </a:xfrm>
          <a:prstGeom prst="rect">
            <a:avLst/>
          </a:prstGeom>
          <a:noFill/>
          <a:ln/>
        </p:spPr>
        <p:txBody>
          <a:bodyPr wrap="square" rtlCol="0" anchor="ctr"/>
          <a:lstStyle/>
          <a:p>
            <a:pPr algn="l" indent="0" marL="0">
              <a:buNone/>
            </a:pPr>
            <a:r>
              <a:rPr lang="en-US" sz="900" dirty="0">
                <a:solidFill>
                  <a:srgbClr val="6B6B6B"/>
                </a:solidFill>
                <a:latin typeface="Calibri" pitchFamily="34" charset="0"/>
                <a:ea typeface="Calibri" pitchFamily="34" charset="-122"/>
                <a:cs typeface="Calibri" pitchFamily="34" charset="-120"/>
              </a:rPr>
              <a:t>Java Full Stack Developer Virtual Internship</a:t>
            </a:r>
            <a:endParaRPr lang="en-US" sz="900" dirty="0"/>
          </a:p>
        </p:txBody>
      </p:sp>
      <p:sp>
        <p:nvSpPr>
          <p:cNvPr id="16" name="Text 13"/>
          <p:cNvSpPr/>
          <p:nvPr/>
        </p:nvSpPr>
        <p:spPr>
          <a:xfrm>
            <a:off x="11368735" y="6419088"/>
            <a:ext cx="548640" cy="274320"/>
          </a:xfrm>
          <a:prstGeom prst="rect">
            <a:avLst/>
          </a:prstGeom>
          <a:noFill/>
          <a:ln/>
        </p:spPr>
        <p:txBody>
          <a:bodyPr wrap="square"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6F5"/>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990011"/>
                </a:solidFill>
                <a:latin typeface="Calibri" pitchFamily="34" charset="0"/>
                <a:ea typeface="Calibri" pitchFamily="34" charset="-122"/>
                <a:cs typeface="Calibri" pitchFamily="34" charset="-120"/>
              </a:rPr>
              <a:t>06 · TECHNOLOGIES &amp; TOOLS</a:t>
            </a:r>
            <a:endParaRPr lang="en-US" sz="1300" dirty="0"/>
          </a:p>
        </p:txBody>
      </p:sp>
      <p:sp>
        <p:nvSpPr>
          <p:cNvPr id="3" name="Text 1"/>
          <p:cNvSpPr/>
          <p:nvPr/>
        </p:nvSpPr>
        <p:spPr>
          <a:xfrm>
            <a:off x="548640" y="658368"/>
            <a:ext cx="10607040" cy="640080"/>
          </a:xfrm>
          <a:prstGeom prst="rect">
            <a:avLst/>
          </a:prstGeom>
          <a:noFill/>
          <a:ln/>
        </p:spPr>
        <p:txBody>
          <a:bodyPr wrap="square" rtlCol="0" anchor="ctr"/>
          <a:lstStyle/>
          <a:p>
            <a:pPr indent="0" marL="0">
              <a:buNone/>
            </a:pPr>
            <a:r>
              <a:rPr lang="en-US" sz="3000" b="1" dirty="0">
                <a:solidFill>
                  <a:srgbClr val="2F3C7E"/>
                </a:solidFill>
                <a:latin typeface="Cambria" pitchFamily="34" charset="0"/>
                <a:ea typeface="Cambria" pitchFamily="34" charset="-122"/>
                <a:cs typeface="Cambria" pitchFamily="34" charset="-120"/>
              </a:rPr>
              <a:t>The Stack Used Throughout the Internship</a:t>
            </a:r>
            <a:endParaRPr lang="en-US" sz="3000" dirty="0"/>
          </a:p>
        </p:txBody>
      </p:sp>
      <p:sp>
        <p:nvSpPr>
          <p:cNvPr id="4" name="Shape 2"/>
          <p:cNvSpPr/>
          <p:nvPr/>
        </p:nvSpPr>
        <p:spPr>
          <a:xfrm>
            <a:off x="548640" y="1691640"/>
            <a:ext cx="3520440" cy="1417320"/>
          </a:xfrm>
          <a:prstGeom prst="roundRect">
            <a:avLst>
              <a:gd name="adj" fmla="val 5161"/>
            </a:avLst>
          </a:prstGeom>
          <a:solidFill>
            <a:srgbClr val="FFFFFF"/>
          </a:solidFill>
          <a:ln w="12700">
            <a:solidFill>
              <a:srgbClr val="E6DFDC"/>
            </a:solidFill>
            <a:prstDash val="solid"/>
          </a:ln>
          <a:effectLst>
            <a:outerShdw sx="100000" sy="100000" kx="0" ky="0" algn="bl" rotWithShape="0" blurRad="76200" dist="25400" dir="5400000">
              <a:srgbClr val="000000">
                <a:alpha val="10000"/>
              </a:srgbClr>
            </a:outerShdw>
          </a:effectLst>
        </p:spPr>
      </p:sp>
      <p:sp>
        <p:nvSpPr>
          <p:cNvPr id="5" name="Shape 3"/>
          <p:cNvSpPr/>
          <p:nvPr/>
        </p:nvSpPr>
        <p:spPr>
          <a:xfrm>
            <a:off x="777240" y="1920240"/>
            <a:ext cx="274320" cy="274320"/>
          </a:xfrm>
          <a:prstGeom prst="ellipse">
            <a:avLst/>
          </a:prstGeom>
          <a:solidFill>
            <a:srgbClr val="990011"/>
          </a:solidFill>
          <a:ln/>
        </p:spPr>
      </p:sp>
      <p:sp>
        <p:nvSpPr>
          <p:cNvPr id="6" name="Text 4"/>
          <p:cNvSpPr/>
          <p:nvPr/>
        </p:nvSpPr>
        <p:spPr>
          <a:xfrm>
            <a:off x="1188720" y="1837944"/>
            <a:ext cx="2651760" cy="457200"/>
          </a:xfrm>
          <a:prstGeom prst="rect">
            <a:avLst/>
          </a:prstGeom>
          <a:noFill/>
          <a:ln/>
        </p:spPr>
        <p:txBody>
          <a:bodyPr wrap="square" rtlCol="0" anchor="ctr"/>
          <a:lstStyle/>
          <a:p>
            <a:pPr indent="0" marL="0">
              <a:buNone/>
            </a:pPr>
            <a:r>
              <a:rPr lang="en-US" sz="1550" b="1" dirty="0">
                <a:solidFill>
                  <a:srgbClr val="2F3C7E"/>
                </a:solidFill>
                <a:latin typeface="Calibri" pitchFamily="34" charset="0"/>
                <a:ea typeface="Calibri" pitchFamily="34" charset="-122"/>
                <a:cs typeface="Calibri" pitchFamily="34" charset="-120"/>
              </a:rPr>
              <a:t>Java</a:t>
            </a:r>
            <a:endParaRPr lang="en-US" sz="1550" dirty="0"/>
          </a:p>
        </p:txBody>
      </p:sp>
      <p:sp>
        <p:nvSpPr>
          <p:cNvPr id="7" name="Text 5"/>
          <p:cNvSpPr/>
          <p:nvPr/>
        </p:nvSpPr>
        <p:spPr>
          <a:xfrm>
            <a:off x="841248" y="2404872"/>
            <a:ext cx="3063240" cy="457200"/>
          </a:xfrm>
          <a:prstGeom prst="rect">
            <a:avLst/>
          </a:prstGeom>
          <a:noFill/>
          <a:ln/>
        </p:spPr>
        <p:txBody>
          <a:bodyPr wrap="square" rtlCol="0" anchor="ctr"/>
          <a:lstStyle/>
          <a:p>
            <a:pPr indent="0" marL="0">
              <a:buNone/>
            </a:pPr>
            <a:r>
              <a:rPr lang="en-US" sz="1200" dirty="0">
                <a:solidFill>
                  <a:srgbClr val="6B6B6B"/>
                </a:solidFill>
                <a:latin typeface="Calibri" pitchFamily="34" charset="0"/>
                <a:ea typeface="Calibri" pitchFamily="34" charset="-122"/>
                <a:cs typeface="Calibri" pitchFamily="34" charset="-120"/>
              </a:rPr>
              <a:t>Core language &amp; OOP</a:t>
            </a:r>
            <a:endParaRPr lang="en-US" sz="1200" dirty="0"/>
          </a:p>
        </p:txBody>
      </p:sp>
      <p:sp>
        <p:nvSpPr>
          <p:cNvPr id="8" name="Shape 6"/>
          <p:cNvSpPr/>
          <p:nvPr/>
        </p:nvSpPr>
        <p:spPr>
          <a:xfrm>
            <a:off x="4325112" y="1691640"/>
            <a:ext cx="3520440" cy="1417320"/>
          </a:xfrm>
          <a:prstGeom prst="roundRect">
            <a:avLst>
              <a:gd name="adj" fmla="val 5161"/>
            </a:avLst>
          </a:prstGeom>
          <a:solidFill>
            <a:srgbClr val="FFFFFF"/>
          </a:solidFill>
          <a:ln w="12700">
            <a:solidFill>
              <a:srgbClr val="E6DFDC"/>
            </a:solidFill>
            <a:prstDash val="solid"/>
          </a:ln>
          <a:effectLst>
            <a:outerShdw sx="100000" sy="100000" kx="0" ky="0" algn="bl" rotWithShape="0" blurRad="76200" dist="25400" dir="5400000">
              <a:srgbClr val="000000">
                <a:alpha val="10000"/>
              </a:srgbClr>
            </a:outerShdw>
          </a:effectLst>
        </p:spPr>
      </p:sp>
      <p:sp>
        <p:nvSpPr>
          <p:cNvPr id="9" name="Shape 7"/>
          <p:cNvSpPr/>
          <p:nvPr/>
        </p:nvSpPr>
        <p:spPr>
          <a:xfrm>
            <a:off x="4553712" y="1920240"/>
            <a:ext cx="274320" cy="274320"/>
          </a:xfrm>
          <a:prstGeom prst="ellipse">
            <a:avLst/>
          </a:prstGeom>
          <a:solidFill>
            <a:srgbClr val="2F3C7E"/>
          </a:solidFill>
          <a:ln/>
        </p:spPr>
      </p:sp>
      <p:sp>
        <p:nvSpPr>
          <p:cNvPr id="10" name="Text 8"/>
          <p:cNvSpPr/>
          <p:nvPr/>
        </p:nvSpPr>
        <p:spPr>
          <a:xfrm>
            <a:off x="4965192" y="1837944"/>
            <a:ext cx="2651760" cy="457200"/>
          </a:xfrm>
          <a:prstGeom prst="rect">
            <a:avLst/>
          </a:prstGeom>
          <a:noFill/>
          <a:ln/>
        </p:spPr>
        <p:txBody>
          <a:bodyPr wrap="square" rtlCol="0" anchor="ctr"/>
          <a:lstStyle/>
          <a:p>
            <a:pPr indent="0" marL="0">
              <a:buNone/>
            </a:pPr>
            <a:r>
              <a:rPr lang="en-US" sz="1550" b="1" dirty="0">
                <a:solidFill>
                  <a:srgbClr val="2F3C7E"/>
                </a:solidFill>
                <a:latin typeface="Calibri" pitchFamily="34" charset="0"/>
                <a:ea typeface="Calibri" pitchFamily="34" charset="-122"/>
                <a:cs typeface="Calibri" pitchFamily="34" charset="-120"/>
              </a:rPr>
              <a:t>HTML/CSS/JS</a:t>
            </a:r>
            <a:endParaRPr lang="en-US" sz="1550" dirty="0"/>
          </a:p>
        </p:txBody>
      </p:sp>
      <p:sp>
        <p:nvSpPr>
          <p:cNvPr id="11" name="Text 9"/>
          <p:cNvSpPr/>
          <p:nvPr/>
        </p:nvSpPr>
        <p:spPr>
          <a:xfrm>
            <a:off x="4617720" y="2404872"/>
            <a:ext cx="3063240" cy="457200"/>
          </a:xfrm>
          <a:prstGeom prst="rect">
            <a:avLst/>
          </a:prstGeom>
          <a:noFill/>
          <a:ln/>
        </p:spPr>
        <p:txBody>
          <a:bodyPr wrap="square" rtlCol="0" anchor="ctr"/>
          <a:lstStyle/>
          <a:p>
            <a:pPr indent="0" marL="0">
              <a:buNone/>
            </a:pPr>
            <a:r>
              <a:rPr lang="en-US" sz="1200" dirty="0">
                <a:solidFill>
                  <a:srgbClr val="6B6B6B"/>
                </a:solidFill>
                <a:latin typeface="Calibri" pitchFamily="34" charset="0"/>
                <a:ea typeface="Calibri" pitchFamily="34" charset="-122"/>
                <a:cs typeface="Calibri" pitchFamily="34" charset="-120"/>
              </a:rPr>
              <a:t>Front-end</a:t>
            </a:r>
            <a:endParaRPr lang="en-US" sz="1200" dirty="0"/>
          </a:p>
        </p:txBody>
      </p:sp>
      <p:sp>
        <p:nvSpPr>
          <p:cNvPr id="12" name="Shape 10"/>
          <p:cNvSpPr/>
          <p:nvPr/>
        </p:nvSpPr>
        <p:spPr>
          <a:xfrm>
            <a:off x="8101584" y="1691640"/>
            <a:ext cx="3520440" cy="1417320"/>
          </a:xfrm>
          <a:prstGeom prst="roundRect">
            <a:avLst>
              <a:gd name="adj" fmla="val 5161"/>
            </a:avLst>
          </a:prstGeom>
          <a:solidFill>
            <a:srgbClr val="FFFFFF"/>
          </a:solidFill>
          <a:ln w="12700">
            <a:solidFill>
              <a:srgbClr val="E6DFDC"/>
            </a:solidFill>
            <a:prstDash val="solid"/>
          </a:ln>
          <a:effectLst>
            <a:outerShdw sx="100000" sy="100000" kx="0" ky="0" algn="bl" rotWithShape="0" blurRad="76200" dist="25400" dir="5400000">
              <a:srgbClr val="000000">
                <a:alpha val="10000"/>
              </a:srgbClr>
            </a:outerShdw>
          </a:effectLst>
        </p:spPr>
      </p:sp>
      <p:sp>
        <p:nvSpPr>
          <p:cNvPr id="13" name="Shape 11"/>
          <p:cNvSpPr/>
          <p:nvPr/>
        </p:nvSpPr>
        <p:spPr>
          <a:xfrm>
            <a:off x="8330184" y="1920240"/>
            <a:ext cx="274320" cy="274320"/>
          </a:xfrm>
          <a:prstGeom prst="ellipse">
            <a:avLst/>
          </a:prstGeom>
          <a:solidFill>
            <a:srgbClr val="990011"/>
          </a:solidFill>
          <a:ln/>
        </p:spPr>
      </p:sp>
      <p:sp>
        <p:nvSpPr>
          <p:cNvPr id="14" name="Text 12"/>
          <p:cNvSpPr/>
          <p:nvPr/>
        </p:nvSpPr>
        <p:spPr>
          <a:xfrm>
            <a:off x="8741664" y="1837944"/>
            <a:ext cx="2651760" cy="457200"/>
          </a:xfrm>
          <a:prstGeom prst="rect">
            <a:avLst/>
          </a:prstGeom>
          <a:noFill/>
          <a:ln/>
        </p:spPr>
        <p:txBody>
          <a:bodyPr wrap="square" rtlCol="0" anchor="ctr"/>
          <a:lstStyle/>
          <a:p>
            <a:pPr indent="0" marL="0">
              <a:buNone/>
            </a:pPr>
            <a:r>
              <a:rPr lang="en-US" sz="1550" b="1" dirty="0">
                <a:solidFill>
                  <a:srgbClr val="2F3C7E"/>
                </a:solidFill>
                <a:latin typeface="Calibri" pitchFamily="34" charset="0"/>
                <a:ea typeface="Calibri" pitchFamily="34" charset="-122"/>
                <a:cs typeface="Calibri" pitchFamily="34" charset="-120"/>
              </a:rPr>
              <a:t>Spring Boot</a:t>
            </a:r>
            <a:endParaRPr lang="en-US" sz="1550" dirty="0"/>
          </a:p>
        </p:txBody>
      </p:sp>
      <p:sp>
        <p:nvSpPr>
          <p:cNvPr id="15" name="Text 13"/>
          <p:cNvSpPr/>
          <p:nvPr/>
        </p:nvSpPr>
        <p:spPr>
          <a:xfrm>
            <a:off x="8394192" y="2404872"/>
            <a:ext cx="3063240" cy="457200"/>
          </a:xfrm>
          <a:prstGeom prst="rect">
            <a:avLst/>
          </a:prstGeom>
          <a:noFill/>
          <a:ln/>
        </p:spPr>
        <p:txBody>
          <a:bodyPr wrap="square" rtlCol="0" anchor="ctr"/>
          <a:lstStyle/>
          <a:p>
            <a:pPr indent="0" marL="0">
              <a:buNone/>
            </a:pPr>
            <a:r>
              <a:rPr lang="en-US" sz="1200" dirty="0">
                <a:solidFill>
                  <a:srgbClr val="6B6B6B"/>
                </a:solidFill>
                <a:latin typeface="Calibri" pitchFamily="34" charset="0"/>
                <a:ea typeface="Calibri" pitchFamily="34" charset="-122"/>
                <a:cs typeface="Calibri" pitchFamily="34" charset="-120"/>
              </a:rPr>
              <a:t>Back-end framework</a:t>
            </a:r>
            <a:endParaRPr lang="en-US" sz="1200" dirty="0"/>
          </a:p>
        </p:txBody>
      </p:sp>
      <p:sp>
        <p:nvSpPr>
          <p:cNvPr id="16" name="Shape 14"/>
          <p:cNvSpPr/>
          <p:nvPr/>
        </p:nvSpPr>
        <p:spPr>
          <a:xfrm>
            <a:off x="548640" y="3364992"/>
            <a:ext cx="3520440" cy="1417320"/>
          </a:xfrm>
          <a:prstGeom prst="roundRect">
            <a:avLst>
              <a:gd name="adj" fmla="val 5161"/>
            </a:avLst>
          </a:prstGeom>
          <a:solidFill>
            <a:srgbClr val="FFFFFF"/>
          </a:solidFill>
          <a:ln w="12700">
            <a:solidFill>
              <a:srgbClr val="E6DFDC"/>
            </a:solidFill>
            <a:prstDash val="solid"/>
          </a:ln>
          <a:effectLst>
            <a:outerShdw sx="100000" sy="100000" kx="0" ky="0" algn="bl" rotWithShape="0" blurRad="76200" dist="25400" dir="5400000">
              <a:srgbClr val="000000">
                <a:alpha val="10000"/>
              </a:srgbClr>
            </a:outerShdw>
          </a:effectLst>
        </p:spPr>
      </p:sp>
      <p:sp>
        <p:nvSpPr>
          <p:cNvPr id="17" name="Shape 15"/>
          <p:cNvSpPr/>
          <p:nvPr/>
        </p:nvSpPr>
        <p:spPr>
          <a:xfrm>
            <a:off x="777240" y="3593592"/>
            <a:ext cx="274320" cy="274320"/>
          </a:xfrm>
          <a:prstGeom prst="ellipse">
            <a:avLst/>
          </a:prstGeom>
          <a:solidFill>
            <a:srgbClr val="2F3C7E"/>
          </a:solidFill>
          <a:ln/>
        </p:spPr>
      </p:sp>
      <p:sp>
        <p:nvSpPr>
          <p:cNvPr id="18" name="Text 16"/>
          <p:cNvSpPr/>
          <p:nvPr/>
        </p:nvSpPr>
        <p:spPr>
          <a:xfrm>
            <a:off x="1188720" y="3511296"/>
            <a:ext cx="2651760" cy="457200"/>
          </a:xfrm>
          <a:prstGeom prst="rect">
            <a:avLst/>
          </a:prstGeom>
          <a:noFill/>
          <a:ln/>
        </p:spPr>
        <p:txBody>
          <a:bodyPr wrap="square" rtlCol="0" anchor="ctr"/>
          <a:lstStyle/>
          <a:p>
            <a:pPr indent="0" marL="0">
              <a:buNone/>
            </a:pPr>
            <a:r>
              <a:rPr lang="en-US" sz="1550" b="1" dirty="0">
                <a:solidFill>
                  <a:srgbClr val="2F3C7E"/>
                </a:solidFill>
                <a:latin typeface="Calibri" pitchFamily="34" charset="0"/>
                <a:ea typeface="Calibri" pitchFamily="34" charset="-122"/>
                <a:cs typeface="Calibri" pitchFamily="34" charset="-120"/>
              </a:rPr>
              <a:t>JDBC / Hibernate</a:t>
            </a:r>
            <a:endParaRPr lang="en-US" sz="1550" dirty="0"/>
          </a:p>
        </p:txBody>
      </p:sp>
      <p:sp>
        <p:nvSpPr>
          <p:cNvPr id="19" name="Text 17"/>
          <p:cNvSpPr/>
          <p:nvPr/>
        </p:nvSpPr>
        <p:spPr>
          <a:xfrm>
            <a:off x="841248" y="4078224"/>
            <a:ext cx="3063240" cy="457200"/>
          </a:xfrm>
          <a:prstGeom prst="rect">
            <a:avLst/>
          </a:prstGeom>
          <a:noFill/>
          <a:ln/>
        </p:spPr>
        <p:txBody>
          <a:bodyPr wrap="square" rtlCol="0" anchor="ctr"/>
          <a:lstStyle/>
          <a:p>
            <a:pPr indent="0" marL="0">
              <a:buNone/>
            </a:pPr>
            <a:r>
              <a:rPr lang="en-US" sz="1200" dirty="0">
                <a:solidFill>
                  <a:srgbClr val="6B6B6B"/>
                </a:solidFill>
                <a:latin typeface="Calibri" pitchFamily="34" charset="0"/>
                <a:ea typeface="Calibri" pitchFamily="34" charset="-122"/>
                <a:cs typeface="Calibri" pitchFamily="34" charset="-120"/>
              </a:rPr>
              <a:t>Data access</a:t>
            </a:r>
            <a:endParaRPr lang="en-US" sz="1200" dirty="0"/>
          </a:p>
        </p:txBody>
      </p:sp>
      <p:sp>
        <p:nvSpPr>
          <p:cNvPr id="20" name="Shape 18"/>
          <p:cNvSpPr/>
          <p:nvPr/>
        </p:nvSpPr>
        <p:spPr>
          <a:xfrm>
            <a:off x="4325112" y="3364992"/>
            <a:ext cx="3520440" cy="1417320"/>
          </a:xfrm>
          <a:prstGeom prst="roundRect">
            <a:avLst>
              <a:gd name="adj" fmla="val 5161"/>
            </a:avLst>
          </a:prstGeom>
          <a:solidFill>
            <a:srgbClr val="FFFFFF"/>
          </a:solidFill>
          <a:ln w="12700">
            <a:solidFill>
              <a:srgbClr val="E6DFDC"/>
            </a:solidFill>
            <a:prstDash val="solid"/>
          </a:ln>
          <a:effectLst>
            <a:outerShdw sx="100000" sy="100000" kx="0" ky="0" algn="bl" rotWithShape="0" blurRad="76200" dist="25400" dir="5400000">
              <a:srgbClr val="000000">
                <a:alpha val="10000"/>
              </a:srgbClr>
            </a:outerShdw>
          </a:effectLst>
        </p:spPr>
      </p:sp>
      <p:sp>
        <p:nvSpPr>
          <p:cNvPr id="21" name="Shape 19"/>
          <p:cNvSpPr/>
          <p:nvPr/>
        </p:nvSpPr>
        <p:spPr>
          <a:xfrm>
            <a:off x="4553712" y="3593592"/>
            <a:ext cx="274320" cy="274320"/>
          </a:xfrm>
          <a:prstGeom prst="ellipse">
            <a:avLst/>
          </a:prstGeom>
          <a:solidFill>
            <a:srgbClr val="990011"/>
          </a:solidFill>
          <a:ln/>
        </p:spPr>
      </p:sp>
      <p:sp>
        <p:nvSpPr>
          <p:cNvPr id="22" name="Text 20"/>
          <p:cNvSpPr/>
          <p:nvPr/>
        </p:nvSpPr>
        <p:spPr>
          <a:xfrm>
            <a:off x="4965192" y="3511296"/>
            <a:ext cx="2651760" cy="457200"/>
          </a:xfrm>
          <a:prstGeom prst="rect">
            <a:avLst/>
          </a:prstGeom>
          <a:noFill/>
          <a:ln/>
        </p:spPr>
        <p:txBody>
          <a:bodyPr wrap="square" rtlCol="0" anchor="ctr"/>
          <a:lstStyle/>
          <a:p>
            <a:pPr indent="0" marL="0">
              <a:buNone/>
            </a:pPr>
            <a:r>
              <a:rPr lang="en-US" sz="1550" b="1" dirty="0">
                <a:solidFill>
                  <a:srgbClr val="2F3C7E"/>
                </a:solidFill>
                <a:latin typeface="Calibri" pitchFamily="34" charset="0"/>
                <a:ea typeface="Calibri" pitchFamily="34" charset="-122"/>
                <a:cs typeface="Calibri" pitchFamily="34" charset="-120"/>
              </a:rPr>
              <a:t>MySQL</a:t>
            </a:r>
            <a:endParaRPr lang="en-US" sz="1550" dirty="0"/>
          </a:p>
        </p:txBody>
      </p:sp>
      <p:sp>
        <p:nvSpPr>
          <p:cNvPr id="23" name="Text 21"/>
          <p:cNvSpPr/>
          <p:nvPr/>
        </p:nvSpPr>
        <p:spPr>
          <a:xfrm>
            <a:off x="4617720" y="4078224"/>
            <a:ext cx="3063240" cy="457200"/>
          </a:xfrm>
          <a:prstGeom prst="rect">
            <a:avLst/>
          </a:prstGeom>
          <a:noFill/>
          <a:ln/>
        </p:spPr>
        <p:txBody>
          <a:bodyPr wrap="square" rtlCol="0" anchor="ctr"/>
          <a:lstStyle/>
          <a:p>
            <a:pPr indent="0" marL="0">
              <a:buNone/>
            </a:pPr>
            <a:r>
              <a:rPr lang="en-US" sz="1200" dirty="0">
                <a:solidFill>
                  <a:srgbClr val="6B6B6B"/>
                </a:solidFill>
                <a:latin typeface="Calibri" pitchFamily="34" charset="0"/>
                <a:ea typeface="Calibri" pitchFamily="34" charset="-122"/>
                <a:cs typeface="Calibri" pitchFamily="34" charset="-120"/>
              </a:rPr>
              <a:t>Database</a:t>
            </a:r>
            <a:endParaRPr lang="en-US" sz="1200" dirty="0"/>
          </a:p>
        </p:txBody>
      </p:sp>
      <p:sp>
        <p:nvSpPr>
          <p:cNvPr id="24" name="Shape 22"/>
          <p:cNvSpPr/>
          <p:nvPr/>
        </p:nvSpPr>
        <p:spPr>
          <a:xfrm>
            <a:off x="8101584" y="3364992"/>
            <a:ext cx="3520440" cy="1417320"/>
          </a:xfrm>
          <a:prstGeom prst="roundRect">
            <a:avLst>
              <a:gd name="adj" fmla="val 5161"/>
            </a:avLst>
          </a:prstGeom>
          <a:solidFill>
            <a:srgbClr val="FFFFFF"/>
          </a:solidFill>
          <a:ln w="12700">
            <a:solidFill>
              <a:srgbClr val="E6DFDC"/>
            </a:solidFill>
            <a:prstDash val="solid"/>
          </a:ln>
          <a:effectLst>
            <a:outerShdw sx="100000" sy="100000" kx="0" ky="0" algn="bl" rotWithShape="0" blurRad="76200" dist="25400" dir="5400000">
              <a:srgbClr val="000000">
                <a:alpha val="10000"/>
              </a:srgbClr>
            </a:outerShdw>
          </a:effectLst>
        </p:spPr>
      </p:sp>
      <p:sp>
        <p:nvSpPr>
          <p:cNvPr id="25" name="Shape 23"/>
          <p:cNvSpPr/>
          <p:nvPr/>
        </p:nvSpPr>
        <p:spPr>
          <a:xfrm>
            <a:off x="8330184" y="3593592"/>
            <a:ext cx="274320" cy="274320"/>
          </a:xfrm>
          <a:prstGeom prst="ellipse">
            <a:avLst/>
          </a:prstGeom>
          <a:solidFill>
            <a:srgbClr val="2F3C7E"/>
          </a:solidFill>
          <a:ln/>
        </p:spPr>
      </p:sp>
      <p:sp>
        <p:nvSpPr>
          <p:cNvPr id="26" name="Text 24"/>
          <p:cNvSpPr/>
          <p:nvPr/>
        </p:nvSpPr>
        <p:spPr>
          <a:xfrm>
            <a:off x="8741664" y="3511296"/>
            <a:ext cx="2651760" cy="457200"/>
          </a:xfrm>
          <a:prstGeom prst="rect">
            <a:avLst/>
          </a:prstGeom>
          <a:noFill/>
          <a:ln/>
        </p:spPr>
        <p:txBody>
          <a:bodyPr wrap="square" rtlCol="0" anchor="ctr"/>
          <a:lstStyle/>
          <a:p>
            <a:pPr indent="0" marL="0">
              <a:buNone/>
            </a:pPr>
            <a:r>
              <a:rPr lang="en-US" sz="1550" b="1" dirty="0">
                <a:solidFill>
                  <a:srgbClr val="2F3C7E"/>
                </a:solidFill>
                <a:latin typeface="Calibri" pitchFamily="34" charset="0"/>
                <a:ea typeface="Calibri" pitchFamily="34" charset="-122"/>
                <a:cs typeface="Calibri" pitchFamily="34" charset="-120"/>
              </a:rPr>
              <a:t>Maven</a:t>
            </a:r>
            <a:endParaRPr lang="en-US" sz="1550" dirty="0"/>
          </a:p>
        </p:txBody>
      </p:sp>
      <p:sp>
        <p:nvSpPr>
          <p:cNvPr id="27" name="Text 25"/>
          <p:cNvSpPr/>
          <p:nvPr/>
        </p:nvSpPr>
        <p:spPr>
          <a:xfrm>
            <a:off x="8394192" y="4078224"/>
            <a:ext cx="3063240" cy="457200"/>
          </a:xfrm>
          <a:prstGeom prst="rect">
            <a:avLst/>
          </a:prstGeom>
          <a:noFill/>
          <a:ln/>
        </p:spPr>
        <p:txBody>
          <a:bodyPr wrap="square" rtlCol="0" anchor="ctr"/>
          <a:lstStyle/>
          <a:p>
            <a:pPr indent="0" marL="0">
              <a:buNone/>
            </a:pPr>
            <a:r>
              <a:rPr lang="en-US" sz="1200" dirty="0">
                <a:solidFill>
                  <a:srgbClr val="6B6B6B"/>
                </a:solidFill>
                <a:latin typeface="Calibri" pitchFamily="34" charset="0"/>
                <a:ea typeface="Calibri" pitchFamily="34" charset="-122"/>
                <a:cs typeface="Calibri" pitchFamily="34" charset="-120"/>
              </a:rPr>
              <a:t>Build &amp; dependencies</a:t>
            </a:r>
            <a:endParaRPr lang="en-US" sz="1200" dirty="0"/>
          </a:p>
        </p:txBody>
      </p:sp>
      <p:sp>
        <p:nvSpPr>
          <p:cNvPr id="28" name="Shape 26"/>
          <p:cNvSpPr/>
          <p:nvPr/>
        </p:nvSpPr>
        <p:spPr>
          <a:xfrm>
            <a:off x="548640" y="5038344"/>
            <a:ext cx="3520440" cy="1417320"/>
          </a:xfrm>
          <a:prstGeom prst="roundRect">
            <a:avLst>
              <a:gd name="adj" fmla="val 5161"/>
            </a:avLst>
          </a:prstGeom>
          <a:solidFill>
            <a:srgbClr val="FFFFFF"/>
          </a:solidFill>
          <a:ln w="12700">
            <a:solidFill>
              <a:srgbClr val="E6DFDC"/>
            </a:solidFill>
            <a:prstDash val="solid"/>
          </a:ln>
          <a:effectLst>
            <a:outerShdw sx="100000" sy="100000" kx="0" ky="0" algn="bl" rotWithShape="0" blurRad="76200" dist="25400" dir="5400000">
              <a:srgbClr val="000000">
                <a:alpha val="10000"/>
              </a:srgbClr>
            </a:outerShdw>
          </a:effectLst>
        </p:spPr>
      </p:sp>
      <p:sp>
        <p:nvSpPr>
          <p:cNvPr id="29" name="Shape 27"/>
          <p:cNvSpPr/>
          <p:nvPr/>
        </p:nvSpPr>
        <p:spPr>
          <a:xfrm>
            <a:off x="777240" y="5266944"/>
            <a:ext cx="274320" cy="274320"/>
          </a:xfrm>
          <a:prstGeom prst="ellipse">
            <a:avLst/>
          </a:prstGeom>
          <a:solidFill>
            <a:srgbClr val="990011"/>
          </a:solidFill>
          <a:ln/>
        </p:spPr>
      </p:sp>
      <p:sp>
        <p:nvSpPr>
          <p:cNvPr id="30" name="Text 28"/>
          <p:cNvSpPr/>
          <p:nvPr/>
        </p:nvSpPr>
        <p:spPr>
          <a:xfrm>
            <a:off x="1188720" y="5184648"/>
            <a:ext cx="2651760" cy="457200"/>
          </a:xfrm>
          <a:prstGeom prst="rect">
            <a:avLst/>
          </a:prstGeom>
          <a:noFill/>
          <a:ln/>
        </p:spPr>
        <p:txBody>
          <a:bodyPr wrap="square" rtlCol="0" anchor="ctr"/>
          <a:lstStyle/>
          <a:p>
            <a:pPr indent="0" marL="0">
              <a:buNone/>
            </a:pPr>
            <a:r>
              <a:rPr lang="en-US" sz="1550" b="1" dirty="0">
                <a:solidFill>
                  <a:srgbClr val="2F3C7E"/>
                </a:solidFill>
                <a:latin typeface="Calibri" pitchFamily="34" charset="0"/>
                <a:ea typeface="Calibri" pitchFamily="34" charset="-122"/>
                <a:cs typeface="Calibri" pitchFamily="34" charset="-120"/>
              </a:rPr>
              <a:t>Git &amp; GitHub</a:t>
            </a:r>
            <a:endParaRPr lang="en-US" sz="1550" dirty="0"/>
          </a:p>
        </p:txBody>
      </p:sp>
      <p:sp>
        <p:nvSpPr>
          <p:cNvPr id="31" name="Text 29"/>
          <p:cNvSpPr/>
          <p:nvPr/>
        </p:nvSpPr>
        <p:spPr>
          <a:xfrm>
            <a:off x="841248" y="5751576"/>
            <a:ext cx="3063240" cy="457200"/>
          </a:xfrm>
          <a:prstGeom prst="rect">
            <a:avLst/>
          </a:prstGeom>
          <a:noFill/>
          <a:ln/>
        </p:spPr>
        <p:txBody>
          <a:bodyPr wrap="square" rtlCol="0" anchor="ctr"/>
          <a:lstStyle/>
          <a:p>
            <a:pPr indent="0" marL="0">
              <a:buNone/>
            </a:pPr>
            <a:r>
              <a:rPr lang="en-US" sz="1200" dirty="0">
                <a:solidFill>
                  <a:srgbClr val="6B6B6B"/>
                </a:solidFill>
                <a:latin typeface="Calibri" pitchFamily="34" charset="0"/>
                <a:ea typeface="Calibri" pitchFamily="34" charset="-122"/>
                <a:cs typeface="Calibri" pitchFamily="34" charset="-120"/>
              </a:rPr>
              <a:t>Version control</a:t>
            </a:r>
            <a:endParaRPr lang="en-US" sz="1200" dirty="0"/>
          </a:p>
        </p:txBody>
      </p:sp>
      <p:sp>
        <p:nvSpPr>
          <p:cNvPr id="32" name="Shape 30"/>
          <p:cNvSpPr/>
          <p:nvPr/>
        </p:nvSpPr>
        <p:spPr>
          <a:xfrm>
            <a:off x="4325112" y="5038344"/>
            <a:ext cx="3520440" cy="1417320"/>
          </a:xfrm>
          <a:prstGeom prst="roundRect">
            <a:avLst>
              <a:gd name="adj" fmla="val 5161"/>
            </a:avLst>
          </a:prstGeom>
          <a:solidFill>
            <a:srgbClr val="FFFFFF"/>
          </a:solidFill>
          <a:ln w="12700">
            <a:solidFill>
              <a:srgbClr val="E6DFDC"/>
            </a:solidFill>
            <a:prstDash val="solid"/>
          </a:ln>
          <a:effectLst>
            <a:outerShdw sx="100000" sy="100000" kx="0" ky="0" algn="bl" rotWithShape="0" blurRad="76200" dist="25400" dir="5400000">
              <a:srgbClr val="000000">
                <a:alpha val="10000"/>
              </a:srgbClr>
            </a:outerShdw>
          </a:effectLst>
        </p:spPr>
      </p:sp>
      <p:sp>
        <p:nvSpPr>
          <p:cNvPr id="33" name="Shape 31"/>
          <p:cNvSpPr/>
          <p:nvPr/>
        </p:nvSpPr>
        <p:spPr>
          <a:xfrm>
            <a:off x="4553712" y="5266944"/>
            <a:ext cx="274320" cy="274320"/>
          </a:xfrm>
          <a:prstGeom prst="ellipse">
            <a:avLst/>
          </a:prstGeom>
          <a:solidFill>
            <a:srgbClr val="2F3C7E"/>
          </a:solidFill>
          <a:ln/>
        </p:spPr>
      </p:sp>
      <p:sp>
        <p:nvSpPr>
          <p:cNvPr id="34" name="Text 32"/>
          <p:cNvSpPr/>
          <p:nvPr/>
        </p:nvSpPr>
        <p:spPr>
          <a:xfrm>
            <a:off x="4965192" y="5184648"/>
            <a:ext cx="2651760" cy="457200"/>
          </a:xfrm>
          <a:prstGeom prst="rect">
            <a:avLst/>
          </a:prstGeom>
          <a:noFill/>
          <a:ln/>
        </p:spPr>
        <p:txBody>
          <a:bodyPr wrap="square" rtlCol="0" anchor="ctr"/>
          <a:lstStyle/>
          <a:p>
            <a:pPr indent="0" marL="0">
              <a:buNone/>
            </a:pPr>
            <a:r>
              <a:rPr lang="en-US" sz="1550" b="1" dirty="0">
                <a:solidFill>
                  <a:srgbClr val="2F3C7E"/>
                </a:solidFill>
                <a:latin typeface="Calibri" pitchFamily="34" charset="0"/>
                <a:ea typeface="Calibri" pitchFamily="34" charset="-122"/>
                <a:cs typeface="Calibri" pitchFamily="34" charset="-120"/>
              </a:rPr>
              <a:t>Eclipse / IntelliJ</a:t>
            </a:r>
            <a:endParaRPr lang="en-US" sz="1550" dirty="0"/>
          </a:p>
        </p:txBody>
      </p:sp>
      <p:sp>
        <p:nvSpPr>
          <p:cNvPr id="35" name="Text 33"/>
          <p:cNvSpPr/>
          <p:nvPr/>
        </p:nvSpPr>
        <p:spPr>
          <a:xfrm>
            <a:off x="4617720" y="5751576"/>
            <a:ext cx="3063240" cy="457200"/>
          </a:xfrm>
          <a:prstGeom prst="rect">
            <a:avLst/>
          </a:prstGeom>
          <a:noFill/>
          <a:ln/>
        </p:spPr>
        <p:txBody>
          <a:bodyPr wrap="square" rtlCol="0" anchor="ctr"/>
          <a:lstStyle/>
          <a:p>
            <a:pPr indent="0" marL="0">
              <a:buNone/>
            </a:pPr>
            <a:r>
              <a:rPr lang="en-US" sz="1200" dirty="0">
                <a:solidFill>
                  <a:srgbClr val="6B6B6B"/>
                </a:solidFill>
                <a:latin typeface="Calibri" pitchFamily="34" charset="0"/>
                <a:ea typeface="Calibri" pitchFamily="34" charset="-122"/>
                <a:cs typeface="Calibri" pitchFamily="34" charset="-120"/>
              </a:rPr>
              <a:t>Development IDE</a:t>
            </a:r>
            <a:endParaRPr lang="en-US" sz="1200" dirty="0"/>
          </a:p>
        </p:txBody>
      </p:sp>
      <p:sp>
        <p:nvSpPr>
          <p:cNvPr id="36" name="Shape 34"/>
          <p:cNvSpPr/>
          <p:nvPr/>
        </p:nvSpPr>
        <p:spPr>
          <a:xfrm>
            <a:off x="8101584" y="5038344"/>
            <a:ext cx="3520440" cy="1417320"/>
          </a:xfrm>
          <a:prstGeom prst="roundRect">
            <a:avLst>
              <a:gd name="adj" fmla="val 5161"/>
            </a:avLst>
          </a:prstGeom>
          <a:solidFill>
            <a:srgbClr val="FFFFFF"/>
          </a:solidFill>
          <a:ln w="12700">
            <a:solidFill>
              <a:srgbClr val="E6DFDC"/>
            </a:solidFill>
            <a:prstDash val="solid"/>
          </a:ln>
          <a:effectLst>
            <a:outerShdw sx="100000" sy="100000" kx="0" ky="0" algn="bl" rotWithShape="0" blurRad="76200" dist="25400" dir="5400000">
              <a:srgbClr val="000000">
                <a:alpha val="10000"/>
              </a:srgbClr>
            </a:outerShdw>
          </a:effectLst>
        </p:spPr>
      </p:sp>
      <p:sp>
        <p:nvSpPr>
          <p:cNvPr id="37" name="Shape 35"/>
          <p:cNvSpPr/>
          <p:nvPr/>
        </p:nvSpPr>
        <p:spPr>
          <a:xfrm>
            <a:off x="8330184" y="5266944"/>
            <a:ext cx="274320" cy="274320"/>
          </a:xfrm>
          <a:prstGeom prst="ellipse">
            <a:avLst/>
          </a:prstGeom>
          <a:solidFill>
            <a:srgbClr val="990011"/>
          </a:solidFill>
          <a:ln/>
        </p:spPr>
      </p:sp>
      <p:sp>
        <p:nvSpPr>
          <p:cNvPr id="38" name="Text 36"/>
          <p:cNvSpPr/>
          <p:nvPr/>
        </p:nvSpPr>
        <p:spPr>
          <a:xfrm>
            <a:off x="8741664" y="5184648"/>
            <a:ext cx="2651760" cy="457200"/>
          </a:xfrm>
          <a:prstGeom prst="rect">
            <a:avLst/>
          </a:prstGeom>
          <a:noFill/>
          <a:ln/>
        </p:spPr>
        <p:txBody>
          <a:bodyPr wrap="square" rtlCol="0" anchor="ctr"/>
          <a:lstStyle/>
          <a:p>
            <a:pPr indent="0" marL="0">
              <a:buNone/>
            </a:pPr>
            <a:r>
              <a:rPr lang="en-US" sz="1550" b="1" dirty="0">
                <a:solidFill>
                  <a:srgbClr val="2F3C7E"/>
                </a:solidFill>
                <a:latin typeface="Calibri" pitchFamily="34" charset="0"/>
                <a:ea typeface="Calibri" pitchFamily="34" charset="-122"/>
                <a:cs typeface="Calibri" pitchFamily="34" charset="-120"/>
              </a:rPr>
              <a:t>Postman</a:t>
            </a:r>
            <a:endParaRPr lang="en-US" sz="1550" dirty="0"/>
          </a:p>
        </p:txBody>
      </p:sp>
      <p:sp>
        <p:nvSpPr>
          <p:cNvPr id="39" name="Text 37"/>
          <p:cNvSpPr/>
          <p:nvPr/>
        </p:nvSpPr>
        <p:spPr>
          <a:xfrm>
            <a:off x="8394192" y="5751576"/>
            <a:ext cx="3063240" cy="457200"/>
          </a:xfrm>
          <a:prstGeom prst="rect">
            <a:avLst/>
          </a:prstGeom>
          <a:noFill/>
          <a:ln/>
        </p:spPr>
        <p:txBody>
          <a:bodyPr wrap="square" rtlCol="0" anchor="ctr"/>
          <a:lstStyle/>
          <a:p>
            <a:pPr indent="0" marL="0">
              <a:buNone/>
            </a:pPr>
            <a:r>
              <a:rPr lang="en-US" sz="1200" dirty="0">
                <a:solidFill>
                  <a:srgbClr val="6B6B6B"/>
                </a:solidFill>
                <a:latin typeface="Calibri" pitchFamily="34" charset="0"/>
                <a:ea typeface="Calibri" pitchFamily="34" charset="-122"/>
                <a:cs typeface="Calibri" pitchFamily="34" charset="-120"/>
              </a:rPr>
              <a:t>API testing</a:t>
            </a:r>
            <a:endParaRPr lang="en-US" sz="1200" dirty="0"/>
          </a:p>
        </p:txBody>
      </p:sp>
      <p:pic>
        <p:nvPicPr>
          <p:cNvPr id="40" name="Image 0" descr="/home/claude/unpacked/word/media/image1.png">    </p:cNvPr>
          <p:cNvPicPr>
            <a:picLocks noChangeAspect="1"/>
          </p:cNvPicPr>
          <p:nvPr/>
        </p:nvPicPr>
        <p:blipFill>
          <a:blip r:embed="rId1"/>
          <a:stretch>
            <a:fillRect/>
          </a:stretch>
        </p:blipFill>
        <p:spPr>
          <a:xfrm>
            <a:off x="320040" y="6400800"/>
            <a:ext cx="292608" cy="310896"/>
          </a:xfrm>
          <a:prstGeom prst="rect">
            <a:avLst/>
          </a:prstGeom>
        </p:spPr>
      </p:pic>
      <p:sp>
        <p:nvSpPr>
          <p:cNvPr id="41" name="Text 38"/>
          <p:cNvSpPr/>
          <p:nvPr/>
        </p:nvSpPr>
        <p:spPr>
          <a:xfrm>
            <a:off x="685800" y="6419088"/>
            <a:ext cx="7315200" cy="274320"/>
          </a:xfrm>
          <a:prstGeom prst="rect">
            <a:avLst/>
          </a:prstGeom>
          <a:noFill/>
          <a:ln/>
        </p:spPr>
        <p:txBody>
          <a:bodyPr wrap="square" rtlCol="0" anchor="ctr"/>
          <a:lstStyle/>
          <a:p>
            <a:pPr algn="l" indent="0" marL="0">
              <a:buNone/>
            </a:pPr>
            <a:r>
              <a:rPr lang="en-US" sz="900" dirty="0">
                <a:solidFill>
                  <a:srgbClr val="6B6B6B"/>
                </a:solidFill>
                <a:latin typeface="Calibri" pitchFamily="34" charset="0"/>
                <a:ea typeface="Calibri" pitchFamily="34" charset="-122"/>
                <a:cs typeface="Calibri" pitchFamily="34" charset="-120"/>
              </a:rPr>
              <a:t>Java Full Stack Developer Virtual Internship</a:t>
            </a:r>
            <a:endParaRPr lang="en-US" sz="900" dirty="0"/>
          </a:p>
        </p:txBody>
      </p:sp>
      <p:sp>
        <p:nvSpPr>
          <p:cNvPr id="42" name="Text 39"/>
          <p:cNvSpPr/>
          <p:nvPr/>
        </p:nvSpPr>
        <p:spPr>
          <a:xfrm>
            <a:off x="11368735" y="6419088"/>
            <a:ext cx="548640" cy="274320"/>
          </a:xfrm>
          <a:prstGeom prst="rect">
            <a:avLst/>
          </a:prstGeom>
          <a:noFill/>
          <a:ln/>
        </p:spPr>
        <p:txBody>
          <a:bodyPr wrap="square"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6F5"/>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990011"/>
                </a:solidFill>
                <a:latin typeface="Calibri" pitchFamily="34" charset="0"/>
                <a:ea typeface="Calibri" pitchFamily="34" charset="-122"/>
                <a:cs typeface="Calibri" pitchFamily="34" charset="-120"/>
              </a:rPr>
              <a:t>07 · SYSTEM ARCHITECTURE</a:t>
            </a:r>
            <a:endParaRPr lang="en-US" sz="1300" dirty="0"/>
          </a:p>
        </p:txBody>
      </p:sp>
      <p:sp>
        <p:nvSpPr>
          <p:cNvPr id="3" name="Text 1"/>
          <p:cNvSpPr/>
          <p:nvPr/>
        </p:nvSpPr>
        <p:spPr>
          <a:xfrm>
            <a:off x="548640" y="658368"/>
            <a:ext cx="10607040" cy="640080"/>
          </a:xfrm>
          <a:prstGeom prst="rect">
            <a:avLst/>
          </a:prstGeom>
          <a:noFill/>
          <a:ln/>
        </p:spPr>
        <p:txBody>
          <a:bodyPr wrap="square" rtlCol="0" anchor="ctr"/>
          <a:lstStyle/>
          <a:p>
            <a:pPr indent="0" marL="0">
              <a:buNone/>
            </a:pPr>
            <a:r>
              <a:rPr lang="en-US" sz="3000" b="1" dirty="0">
                <a:solidFill>
                  <a:srgbClr val="2F3C7E"/>
                </a:solidFill>
                <a:latin typeface="Cambria" pitchFamily="34" charset="0"/>
                <a:ea typeface="Cambria" pitchFamily="34" charset="-122"/>
                <a:cs typeface="Cambria" pitchFamily="34" charset="-120"/>
              </a:rPr>
              <a:t>Layered (n-Tier) Application Design</a:t>
            </a:r>
            <a:endParaRPr lang="en-US" sz="3000" dirty="0"/>
          </a:p>
        </p:txBody>
      </p:sp>
      <p:sp>
        <p:nvSpPr>
          <p:cNvPr id="4" name="Shape 2"/>
          <p:cNvSpPr/>
          <p:nvPr/>
        </p:nvSpPr>
        <p:spPr>
          <a:xfrm>
            <a:off x="1463040" y="1691640"/>
            <a:ext cx="8778240" cy="1234440"/>
          </a:xfrm>
          <a:prstGeom prst="roundRect">
            <a:avLst>
              <a:gd name="adj" fmla="val 6667"/>
            </a:avLst>
          </a:prstGeom>
          <a:solidFill>
            <a:srgbClr val="2F3C7E"/>
          </a:solidFill>
          <a:ln/>
        </p:spPr>
      </p:sp>
      <p:sp>
        <p:nvSpPr>
          <p:cNvPr id="5" name="Text 3"/>
          <p:cNvSpPr/>
          <p:nvPr/>
        </p:nvSpPr>
        <p:spPr>
          <a:xfrm>
            <a:off x="1828800" y="1828800"/>
            <a:ext cx="5486400" cy="457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Presentation Layer</a:t>
            </a:r>
            <a:endParaRPr lang="en-US" sz="1700" dirty="0"/>
          </a:p>
        </p:txBody>
      </p:sp>
      <p:sp>
        <p:nvSpPr>
          <p:cNvPr id="6" name="Text 4"/>
          <p:cNvSpPr/>
          <p:nvPr/>
        </p:nvSpPr>
        <p:spPr>
          <a:xfrm>
            <a:off x="1828800" y="2313432"/>
            <a:ext cx="5486400" cy="502920"/>
          </a:xfrm>
          <a:prstGeom prst="rect">
            <a:avLst/>
          </a:prstGeom>
          <a:noFill/>
          <a:ln/>
        </p:spPr>
        <p:txBody>
          <a:bodyPr wrap="square" rtlCol="0" anchor="ctr"/>
          <a:lstStyle/>
          <a:p>
            <a:pPr indent="0" marL="0">
              <a:buNone/>
            </a:pPr>
            <a:r>
              <a:rPr lang="en-US" sz="1200" dirty="0">
                <a:solidFill>
                  <a:srgbClr val="F0F0F0"/>
                </a:solidFill>
                <a:latin typeface="Calibri" pitchFamily="34" charset="0"/>
                <a:ea typeface="Calibri" pitchFamily="34" charset="-122"/>
                <a:cs typeface="Calibri" pitchFamily="34" charset="-120"/>
              </a:rPr>
              <a:t>Handles user interaction &amp; displays server data</a:t>
            </a:r>
            <a:endParaRPr lang="en-US" sz="1200" dirty="0"/>
          </a:p>
        </p:txBody>
      </p:sp>
      <p:sp>
        <p:nvSpPr>
          <p:cNvPr id="7" name="Shape 5"/>
          <p:cNvSpPr/>
          <p:nvPr/>
        </p:nvSpPr>
        <p:spPr>
          <a:xfrm>
            <a:off x="7452360" y="1920240"/>
            <a:ext cx="2468880" cy="777240"/>
          </a:xfrm>
          <a:prstGeom prst="roundRect">
            <a:avLst>
              <a:gd name="adj" fmla="val 7059"/>
            </a:avLst>
          </a:prstGeom>
          <a:solidFill>
            <a:srgbClr val="FFFFFF">
              <a:alpha val="88000"/>
            </a:srgbClr>
          </a:solidFill>
          <a:ln/>
        </p:spPr>
      </p:sp>
      <p:sp>
        <p:nvSpPr>
          <p:cNvPr id="8" name="Text 6"/>
          <p:cNvSpPr/>
          <p:nvPr/>
        </p:nvSpPr>
        <p:spPr>
          <a:xfrm>
            <a:off x="7452360" y="1920240"/>
            <a:ext cx="2468880" cy="77724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HTML · CSS · JavaScript</a:t>
            </a:r>
            <a:endParaRPr lang="en-US" sz="1250" dirty="0"/>
          </a:p>
        </p:txBody>
      </p:sp>
      <p:sp>
        <p:nvSpPr>
          <p:cNvPr id="9" name="Shape 7"/>
          <p:cNvSpPr/>
          <p:nvPr/>
        </p:nvSpPr>
        <p:spPr>
          <a:xfrm rot="10800000">
            <a:off x="5724144" y="2980944"/>
            <a:ext cx="256032" cy="256032"/>
          </a:xfrm>
          <a:prstGeom prst="triangle">
            <a:avLst/>
          </a:prstGeom>
          <a:solidFill>
            <a:srgbClr val="6B6B6B"/>
          </a:solidFill>
          <a:ln/>
        </p:spPr>
      </p:sp>
      <p:sp>
        <p:nvSpPr>
          <p:cNvPr id="10" name="Shape 8"/>
          <p:cNvSpPr/>
          <p:nvPr/>
        </p:nvSpPr>
        <p:spPr>
          <a:xfrm>
            <a:off x="1463040" y="3429000"/>
            <a:ext cx="8778240" cy="1234440"/>
          </a:xfrm>
          <a:prstGeom prst="roundRect">
            <a:avLst>
              <a:gd name="adj" fmla="val 6667"/>
            </a:avLst>
          </a:prstGeom>
          <a:solidFill>
            <a:srgbClr val="990011"/>
          </a:solidFill>
          <a:ln/>
        </p:spPr>
      </p:sp>
      <p:sp>
        <p:nvSpPr>
          <p:cNvPr id="11" name="Text 9"/>
          <p:cNvSpPr/>
          <p:nvPr/>
        </p:nvSpPr>
        <p:spPr>
          <a:xfrm>
            <a:off x="1828800" y="3566160"/>
            <a:ext cx="5486400" cy="457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Business / Service Layer</a:t>
            </a:r>
            <a:endParaRPr lang="en-US" sz="1700" dirty="0"/>
          </a:p>
        </p:txBody>
      </p:sp>
      <p:sp>
        <p:nvSpPr>
          <p:cNvPr id="12" name="Text 10"/>
          <p:cNvSpPr/>
          <p:nvPr/>
        </p:nvSpPr>
        <p:spPr>
          <a:xfrm>
            <a:off x="1828800" y="4050792"/>
            <a:ext cx="5486400" cy="502920"/>
          </a:xfrm>
          <a:prstGeom prst="rect">
            <a:avLst/>
          </a:prstGeom>
          <a:noFill/>
          <a:ln/>
        </p:spPr>
        <p:txBody>
          <a:bodyPr wrap="square" rtlCol="0" anchor="ctr"/>
          <a:lstStyle/>
          <a:p>
            <a:pPr indent="0" marL="0">
              <a:buNone/>
            </a:pPr>
            <a:r>
              <a:rPr lang="en-US" sz="1200" dirty="0">
                <a:solidFill>
                  <a:srgbClr val="F0F0F0"/>
                </a:solidFill>
                <a:latin typeface="Calibri" pitchFamily="34" charset="0"/>
                <a:ea typeface="Calibri" pitchFamily="34" charset="-122"/>
                <a:cs typeface="Calibri" pitchFamily="34" charset="-120"/>
              </a:rPr>
              <a:t>Core logic, exposed via RESTful web services</a:t>
            </a:r>
            <a:endParaRPr lang="en-US" sz="1200" dirty="0"/>
          </a:p>
        </p:txBody>
      </p:sp>
      <p:sp>
        <p:nvSpPr>
          <p:cNvPr id="13" name="Shape 11"/>
          <p:cNvSpPr/>
          <p:nvPr/>
        </p:nvSpPr>
        <p:spPr>
          <a:xfrm>
            <a:off x="7452360" y="3657600"/>
            <a:ext cx="2468880" cy="777240"/>
          </a:xfrm>
          <a:prstGeom prst="roundRect">
            <a:avLst>
              <a:gd name="adj" fmla="val 7059"/>
            </a:avLst>
          </a:prstGeom>
          <a:solidFill>
            <a:srgbClr val="FFFFFF">
              <a:alpha val="88000"/>
            </a:srgbClr>
          </a:solidFill>
          <a:ln/>
        </p:spPr>
      </p:sp>
      <p:sp>
        <p:nvSpPr>
          <p:cNvPr id="14" name="Text 12"/>
          <p:cNvSpPr/>
          <p:nvPr/>
        </p:nvSpPr>
        <p:spPr>
          <a:xfrm>
            <a:off x="7452360" y="3657600"/>
            <a:ext cx="2468880" cy="77724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Spring · Spring Boot</a:t>
            </a:r>
            <a:endParaRPr lang="en-US" sz="1250" dirty="0"/>
          </a:p>
        </p:txBody>
      </p:sp>
      <p:sp>
        <p:nvSpPr>
          <p:cNvPr id="15" name="Shape 13"/>
          <p:cNvSpPr/>
          <p:nvPr/>
        </p:nvSpPr>
        <p:spPr>
          <a:xfrm rot="10800000">
            <a:off x="5724144" y="4718304"/>
            <a:ext cx="256032" cy="256032"/>
          </a:xfrm>
          <a:prstGeom prst="triangle">
            <a:avLst/>
          </a:prstGeom>
          <a:solidFill>
            <a:srgbClr val="6B6B6B"/>
          </a:solidFill>
          <a:ln/>
        </p:spPr>
      </p:sp>
      <p:sp>
        <p:nvSpPr>
          <p:cNvPr id="16" name="Shape 14"/>
          <p:cNvSpPr/>
          <p:nvPr/>
        </p:nvSpPr>
        <p:spPr>
          <a:xfrm>
            <a:off x="1463040" y="5166360"/>
            <a:ext cx="8778240" cy="1234440"/>
          </a:xfrm>
          <a:prstGeom prst="roundRect">
            <a:avLst>
              <a:gd name="adj" fmla="val 6667"/>
            </a:avLst>
          </a:prstGeom>
          <a:solidFill>
            <a:srgbClr val="2F3C7E"/>
          </a:solidFill>
          <a:ln/>
        </p:spPr>
      </p:sp>
      <p:sp>
        <p:nvSpPr>
          <p:cNvPr id="17" name="Text 15"/>
          <p:cNvSpPr/>
          <p:nvPr/>
        </p:nvSpPr>
        <p:spPr>
          <a:xfrm>
            <a:off x="1828800" y="5303520"/>
            <a:ext cx="5486400" cy="457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Data Access Layer</a:t>
            </a:r>
            <a:endParaRPr lang="en-US" sz="1700" dirty="0"/>
          </a:p>
        </p:txBody>
      </p:sp>
      <p:sp>
        <p:nvSpPr>
          <p:cNvPr id="18" name="Text 16"/>
          <p:cNvSpPr/>
          <p:nvPr/>
        </p:nvSpPr>
        <p:spPr>
          <a:xfrm>
            <a:off x="1828800" y="5788152"/>
            <a:ext cx="5486400" cy="502920"/>
          </a:xfrm>
          <a:prstGeom prst="rect">
            <a:avLst/>
          </a:prstGeom>
          <a:noFill/>
          <a:ln/>
        </p:spPr>
        <p:txBody>
          <a:bodyPr wrap="square" rtlCol="0" anchor="ctr"/>
          <a:lstStyle/>
          <a:p>
            <a:pPr indent="0" marL="0">
              <a:buNone/>
            </a:pPr>
            <a:r>
              <a:rPr lang="en-US" sz="1200" dirty="0">
                <a:solidFill>
                  <a:srgbClr val="F0F0F0"/>
                </a:solidFill>
                <a:latin typeface="Calibri" pitchFamily="34" charset="0"/>
                <a:ea typeface="Calibri" pitchFamily="34" charset="-122"/>
                <a:cs typeface="Calibri" pitchFamily="34" charset="-120"/>
              </a:rPr>
              <a:t>Communicates with the MySQL database</a:t>
            </a:r>
            <a:endParaRPr lang="en-US" sz="1200" dirty="0"/>
          </a:p>
        </p:txBody>
      </p:sp>
      <p:sp>
        <p:nvSpPr>
          <p:cNvPr id="19" name="Shape 17"/>
          <p:cNvSpPr/>
          <p:nvPr/>
        </p:nvSpPr>
        <p:spPr>
          <a:xfrm>
            <a:off x="7452360" y="5394960"/>
            <a:ext cx="2468880" cy="777240"/>
          </a:xfrm>
          <a:prstGeom prst="roundRect">
            <a:avLst>
              <a:gd name="adj" fmla="val 7059"/>
            </a:avLst>
          </a:prstGeom>
          <a:solidFill>
            <a:srgbClr val="FFFFFF">
              <a:alpha val="88000"/>
            </a:srgbClr>
          </a:solidFill>
          <a:ln/>
        </p:spPr>
      </p:sp>
      <p:sp>
        <p:nvSpPr>
          <p:cNvPr id="20" name="Text 18"/>
          <p:cNvSpPr/>
          <p:nvPr/>
        </p:nvSpPr>
        <p:spPr>
          <a:xfrm>
            <a:off x="7452360" y="5394960"/>
            <a:ext cx="2468880" cy="77724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JDBC · Hibernate / JPA</a:t>
            </a:r>
            <a:endParaRPr lang="en-US" sz="1250" dirty="0"/>
          </a:p>
        </p:txBody>
      </p:sp>
      <p:pic>
        <p:nvPicPr>
          <p:cNvPr id="21" name="Image 0" descr="/home/claude/unpacked/word/media/image1.png">    </p:cNvPr>
          <p:cNvPicPr>
            <a:picLocks noChangeAspect="1"/>
          </p:cNvPicPr>
          <p:nvPr/>
        </p:nvPicPr>
        <p:blipFill>
          <a:blip r:embed="rId1"/>
          <a:stretch>
            <a:fillRect/>
          </a:stretch>
        </p:blipFill>
        <p:spPr>
          <a:xfrm>
            <a:off x="320040" y="6400800"/>
            <a:ext cx="292608" cy="310896"/>
          </a:xfrm>
          <a:prstGeom prst="rect">
            <a:avLst/>
          </a:prstGeom>
        </p:spPr>
      </p:pic>
      <p:sp>
        <p:nvSpPr>
          <p:cNvPr id="22" name="Text 19"/>
          <p:cNvSpPr/>
          <p:nvPr/>
        </p:nvSpPr>
        <p:spPr>
          <a:xfrm>
            <a:off x="685800" y="6419088"/>
            <a:ext cx="7315200" cy="274320"/>
          </a:xfrm>
          <a:prstGeom prst="rect">
            <a:avLst/>
          </a:prstGeom>
          <a:noFill/>
          <a:ln/>
        </p:spPr>
        <p:txBody>
          <a:bodyPr wrap="square" rtlCol="0" anchor="ctr"/>
          <a:lstStyle/>
          <a:p>
            <a:pPr algn="l" indent="0" marL="0">
              <a:buNone/>
            </a:pPr>
            <a:r>
              <a:rPr lang="en-US" sz="900" dirty="0">
                <a:solidFill>
                  <a:srgbClr val="6B6B6B"/>
                </a:solidFill>
                <a:latin typeface="Calibri" pitchFamily="34" charset="0"/>
                <a:ea typeface="Calibri" pitchFamily="34" charset="-122"/>
                <a:cs typeface="Calibri" pitchFamily="34" charset="-120"/>
              </a:rPr>
              <a:t>Java Full Stack Developer Virtual Internship</a:t>
            </a:r>
            <a:endParaRPr lang="en-US" sz="900" dirty="0"/>
          </a:p>
        </p:txBody>
      </p:sp>
      <p:sp>
        <p:nvSpPr>
          <p:cNvPr id="23" name="Text 20"/>
          <p:cNvSpPr/>
          <p:nvPr/>
        </p:nvSpPr>
        <p:spPr>
          <a:xfrm>
            <a:off x="11368735" y="6419088"/>
            <a:ext cx="548640" cy="274320"/>
          </a:xfrm>
          <a:prstGeom prst="rect">
            <a:avLst/>
          </a:prstGeom>
          <a:noFill/>
          <a:ln/>
        </p:spPr>
        <p:txBody>
          <a:bodyPr wrap="square"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6F5"/>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990011"/>
                </a:solidFill>
                <a:latin typeface="Calibri" pitchFamily="34" charset="0"/>
                <a:ea typeface="Calibri" pitchFamily="34" charset="-122"/>
                <a:cs typeface="Calibri" pitchFamily="34" charset="-120"/>
              </a:rPr>
              <a:t>08 · METHODOLOGY</a:t>
            </a:r>
            <a:endParaRPr lang="en-US" sz="1300" dirty="0"/>
          </a:p>
        </p:txBody>
      </p:sp>
      <p:sp>
        <p:nvSpPr>
          <p:cNvPr id="3" name="Text 1"/>
          <p:cNvSpPr/>
          <p:nvPr/>
        </p:nvSpPr>
        <p:spPr>
          <a:xfrm>
            <a:off x="548640" y="658368"/>
            <a:ext cx="10607040" cy="640080"/>
          </a:xfrm>
          <a:prstGeom prst="rect">
            <a:avLst/>
          </a:prstGeom>
          <a:noFill/>
          <a:ln/>
        </p:spPr>
        <p:txBody>
          <a:bodyPr wrap="square" rtlCol="0" anchor="ctr"/>
          <a:lstStyle/>
          <a:p>
            <a:pPr indent="0" marL="0">
              <a:buNone/>
            </a:pPr>
            <a:r>
              <a:rPr lang="en-US" sz="3000" b="1" dirty="0">
                <a:solidFill>
                  <a:srgbClr val="2F3C7E"/>
                </a:solidFill>
                <a:latin typeface="Cambria" pitchFamily="34" charset="0"/>
                <a:ea typeface="Cambria" pitchFamily="34" charset="-122"/>
                <a:cs typeface="Cambria" pitchFamily="34" charset="-120"/>
              </a:rPr>
              <a:t>An 8-Week, Module-Based Learning Path</a:t>
            </a:r>
            <a:endParaRPr lang="en-US" sz="3000" dirty="0"/>
          </a:p>
        </p:txBody>
      </p:sp>
      <p:sp>
        <p:nvSpPr>
          <p:cNvPr id="4" name="Shape 2"/>
          <p:cNvSpPr/>
          <p:nvPr/>
        </p:nvSpPr>
        <p:spPr>
          <a:xfrm>
            <a:off x="1851660" y="1965960"/>
            <a:ext cx="8503920" cy="0"/>
          </a:xfrm>
          <a:prstGeom prst="line">
            <a:avLst/>
          </a:prstGeom>
          <a:noFill/>
          <a:ln w="38100">
            <a:solidFill>
              <a:srgbClr val="2F3C7E"/>
            </a:solidFill>
            <a:prstDash val="solid"/>
          </a:ln>
        </p:spPr>
      </p:sp>
      <p:sp>
        <p:nvSpPr>
          <p:cNvPr id="5" name="Shape 3"/>
          <p:cNvSpPr/>
          <p:nvPr/>
        </p:nvSpPr>
        <p:spPr>
          <a:xfrm>
            <a:off x="1723644" y="1837944"/>
            <a:ext cx="256032" cy="256032"/>
          </a:xfrm>
          <a:prstGeom prst="ellipse">
            <a:avLst/>
          </a:prstGeom>
          <a:solidFill>
            <a:srgbClr val="990011"/>
          </a:solidFill>
          <a:ln w="25400">
            <a:solidFill>
              <a:srgbClr val="FFFFFF"/>
            </a:solidFill>
            <a:prstDash val="solid"/>
          </a:ln>
        </p:spPr>
      </p:sp>
      <p:sp>
        <p:nvSpPr>
          <p:cNvPr id="6" name="Shape 4"/>
          <p:cNvSpPr/>
          <p:nvPr/>
        </p:nvSpPr>
        <p:spPr>
          <a:xfrm>
            <a:off x="548640" y="2103120"/>
            <a:ext cx="2606040" cy="2194560"/>
          </a:xfrm>
          <a:prstGeom prst="roundRect">
            <a:avLst>
              <a:gd name="adj" fmla="val 3333"/>
            </a:avLst>
          </a:prstGeom>
          <a:solidFill>
            <a:srgbClr val="FFFFFF"/>
          </a:solidFill>
          <a:ln w="12700">
            <a:solidFill>
              <a:srgbClr val="E6DFDC"/>
            </a:solidFill>
            <a:prstDash val="solid"/>
          </a:ln>
          <a:effectLst>
            <a:outerShdw sx="100000" sy="100000" kx="0" ky="0" algn="bl" rotWithShape="0" blurRad="76200" dist="25400" dir="5400000">
              <a:srgbClr val="000000">
                <a:alpha val="10000"/>
              </a:srgbClr>
            </a:outerShdw>
          </a:effectLst>
        </p:spPr>
      </p:sp>
      <p:sp>
        <p:nvSpPr>
          <p:cNvPr id="7" name="Text 5"/>
          <p:cNvSpPr/>
          <p:nvPr/>
        </p:nvSpPr>
        <p:spPr>
          <a:xfrm>
            <a:off x="731520" y="2267712"/>
            <a:ext cx="2240280" cy="365760"/>
          </a:xfrm>
          <a:prstGeom prst="rect">
            <a:avLst/>
          </a:prstGeom>
          <a:noFill/>
          <a:ln/>
        </p:spPr>
        <p:txBody>
          <a:bodyPr wrap="square" rtlCol="0" anchor="ctr"/>
          <a:lstStyle/>
          <a:p>
            <a:pPr indent="0" marL="0">
              <a:buNone/>
            </a:pPr>
            <a:r>
              <a:rPr lang="en-US" sz="1200" b="1" dirty="0">
                <a:solidFill>
                  <a:srgbClr val="990011"/>
                </a:solidFill>
                <a:latin typeface="Calibri" pitchFamily="34" charset="0"/>
                <a:ea typeface="Calibri" pitchFamily="34" charset="-122"/>
                <a:cs typeface="Calibri" pitchFamily="34" charset="-120"/>
              </a:rPr>
              <a:t>Wk 1–2</a:t>
            </a:r>
            <a:endParaRPr lang="en-US" sz="1200" dirty="0"/>
          </a:p>
        </p:txBody>
      </p:sp>
      <p:sp>
        <p:nvSpPr>
          <p:cNvPr id="8" name="Text 6"/>
          <p:cNvSpPr/>
          <p:nvPr/>
        </p:nvSpPr>
        <p:spPr>
          <a:xfrm>
            <a:off x="731520" y="2651760"/>
            <a:ext cx="2240280" cy="777240"/>
          </a:xfrm>
          <a:prstGeom prst="rect">
            <a:avLst/>
          </a:prstGeom>
          <a:noFill/>
          <a:ln/>
        </p:spPr>
        <p:txBody>
          <a:bodyPr wrap="square" rtlCol="0" anchor="t"/>
          <a:lstStyle/>
          <a:p>
            <a:pPr indent="0" marL="0">
              <a:buNone/>
            </a:pPr>
            <a:r>
              <a:rPr lang="en-US" sz="1450" b="1" dirty="0">
                <a:solidFill>
                  <a:srgbClr val="2F3C7E"/>
                </a:solidFill>
                <a:latin typeface="Calibri" pitchFamily="34" charset="0"/>
                <a:ea typeface="Calibri" pitchFamily="34" charset="-122"/>
                <a:cs typeface="Calibri" pitchFamily="34" charset="-120"/>
              </a:rPr>
              <a:t>Java Foundations</a:t>
            </a:r>
            <a:endParaRPr lang="en-US" sz="1450" dirty="0"/>
          </a:p>
        </p:txBody>
      </p:sp>
      <p:sp>
        <p:nvSpPr>
          <p:cNvPr id="9" name="Text 7"/>
          <p:cNvSpPr/>
          <p:nvPr/>
        </p:nvSpPr>
        <p:spPr>
          <a:xfrm>
            <a:off x="731520" y="3520440"/>
            <a:ext cx="2240280" cy="685800"/>
          </a:xfrm>
          <a:prstGeom prst="rect">
            <a:avLst/>
          </a:prstGeom>
          <a:noFill/>
          <a:ln/>
        </p:spPr>
        <p:txBody>
          <a:bodyPr wrap="square" rtlCol="0" anchor="t"/>
          <a:lstStyle/>
          <a:p>
            <a:pPr indent="0" marL="0">
              <a:buNone/>
            </a:pPr>
            <a:r>
              <a:rPr lang="en-US" sz="1150" dirty="0">
                <a:solidFill>
                  <a:srgbClr val="6B6B6B"/>
                </a:solidFill>
                <a:latin typeface="Calibri" pitchFamily="34" charset="0"/>
                <a:ea typeface="Calibri" pitchFamily="34" charset="-122"/>
                <a:cs typeface="Calibri" pitchFamily="34" charset="-120"/>
              </a:rPr>
              <a:t>Core Java &amp; OOP concepts</a:t>
            </a:r>
            <a:endParaRPr lang="en-US" sz="1150" dirty="0"/>
          </a:p>
        </p:txBody>
      </p:sp>
      <p:sp>
        <p:nvSpPr>
          <p:cNvPr id="10" name="Shape 8"/>
          <p:cNvSpPr/>
          <p:nvPr/>
        </p:nvSpPr>
        <p:spPr>
          <a:xfrm>
            <a:off x="4558284" y="1837944"/>
            <a:ext cx="256032" cy="256032"/>
          </a:xfrm>
          <a:prstGeom prst="ellipse">
            <a:avLst/>
          </a:prstGeom>
          <a:solidFill>
            <a:srgbClr val="990011"/>
          </a:solidFill>
          <a:ln w="25400">
            <a:solidFill>
              <a:srgbClr val="FFFFFF"/>
            </a:solidFill>
            <a:prstDash val="solid"/>
          </a:ln>
        </p:spPr>
      </p:sp>
      <p:sp>
        <p:nvSpPr>
          <p:cNvPr id="11" name="Shape 9"/>
          <p:cNvSpPr/>
          <p:nvPr/>
        </p:nvSpPr>
        <p:spPr>
          <a:xfrm>
            <a:off x="3383280" y="2103120"/>
            <a:ext cx="2606040" cy="2194560"/>
          </a:xfrm>
          <a:prstGeom prst="roundRect">
            <a:avLst>
              <a:gd name="adj" fmla="val 3333"/>
            </a:avLst>
          </a:prstGeom>
          <a:solidFill>
            <a:srgbClr val="FFFFFF"/>
          </a:solidFill>
          <a:ln w="12700">
            <a:solidFill>
              <a:srgbClr val="E6DFDC"/>
            </a:solidFill>
            <a:prstDash val="solid"/>
          </a:ln>
          <a:effectLst>
            <a:outerShdw sx="100000" sy="100000" kx="0" ky="0" algn="bl" rotWithShape="0" blurRad="76200" dist="25400" dir="5400000">
              <a:srgbClr val="000000">
                <a:alpha val="10000"/>
              </a:srgbClr>
            </a:outerShdw>
          </a:effectLst>
        </p:spPr>
      </p:sp>
      <p:sp>
        <p:nvSpPr>
          <p:cNvPr id="12" name="Text 10"/>
          <p:cNvSpPr/>
          <p:nvPr/>
        </p:nvSpPr>
        <p:spPr>
          <a:xfrm>
            <a:off x="3566160" y="2267712"/>
            <a:ext cx="2240280" cy="365760"/>
          </a:xfrm>
          <a:prstGeom prst="rect">
            <a:avLst/>
          </a:prstGeom>
          <a:noFill/>
          <a:ln/>
        </p:spPr>
        <p:txBody>
          <a:bodyPr wrap="square" rtlCol="0" anchor="ctr"/>
          <a:lstStyle/>
          <a:p>
            <a:pPr indent="0" marL="0">
              <a:buNone/>
            </a:pPr>
            <a:r>
              <a:rPr lang="en-US" sz="1200" b="1" dirty="0">
                <a:solidFill>
                  <a:srgbClr val="990011"/>
                </a:solidFill>
                <a:latin typeface="Calibri" pitchFamily="34" charset="0"/>
                <a:ea typeface="Calibri" pitchFamily="34" charset="-122"/>
                <a:cs typeface="Calibri" pitchFamily="34" charset="-120"/>
              </a:rPr>
              <a:t>Wk 3–4</a:t>
            </a:r>
            <a:endParaRPr lang="en-US" sz="1200" dirty="0"/>
          </a:p>
        </p:txBody>
      </p:sp>
      <p:sp>
        <p:nvSpPr>
          <p:cNvPr id="13" name="Text 11"/>
          <p:cNvSpPr/>
          <p:nvPr/>
        </p:nvSpPr>
        <p:spPr>
          <a:xfrm>
            <a:off x="3566160" y="2651760"/>
            <a:ext cx="2240280" cy="777240"/>
          </a:xfrm>
          <a:prstGeom prst="rect">
            <a:avLst/>
          </a:prstGeom>
          <a:noFill/>
          <a:ln/>
        </p:spPr>
        <p:txBody>
          <a:bodyPr wrap="square" rtlCol="0" anchor="t"/>
          <a:lstStyle/>
          <a:p>
            <a:pPr indent="0" marL="0">
              <a:buNone/>
            </a:pPr>
            <a:r>
              <a:rPr lang="en-US" sz="1450" b="1" dirty="0">
                <a:solidFill>
                  <a:srgbClr val="2F3C7E"/>
                </a:solidFill>
                <a:latin typeface="Calibri" pitchFamily="34" charset="0"/>
                <a:ea typeface="Calibri" pitchFamily="34" charset="-122"/>
                <a:cs typeface="Calibri" pitchFamily="34" charset="-120"/>
              </a:rPr>
              <a:t>Front-End Development</a:t>
            </a:r>
            <a:endParaRPr lang="en-US" sz="1450" dirty="0"/>
          </a:p>
        </p:txBody>
      </p:sp>
      <p:sp>
        <p:nvSpPr>
          <p:cNvPr id="14" name="Text 12"/>
          <p:cNvSpPr/>
          <p:nvPr/>
        </p:nvSpPr>
        <p:spPr>
          <a:xfrm>
            <a:off x="3566160" y="3520440"/>
            <a:ext cx="2240280" cy="685800"/>
          </a:xfrm>
          <a:prstGeom prst="rect">
            <a:avLst/>
          </a:prstGeom>
          <a:noFill/>
          <a:ln/>
        </p:spPr>
        <p:txBody>
          <a:bodyPr wrap="square" rtlCol="0" anchor="t"/>
          <a:lstStyle/>
          <a:p>
            <a:pPr indent="0" marL="0">
              <a:buNone/>
            </a:pPr>
            <a:r>
              <a:rPr lang="en-US" sz="1150" dirty="0">
                <a:solidFill>
                  <a:srgbClr val="6B6B6B"/>
                </a:solidFill>
                <a:latin typeface="Calibri" pitchFamily="34" charset="0"/>
                <a:ea typeface="Calibri" pitchFamily="34" charset="-122"/>
                <a:cs typeface="Calibri" pitchFamily="34" charset="-120"/>
              </a:rPr>
              <a:t>HTML, CSS &amp; JavaScript</a:t>
            </a:r>
            <a:endParaRPr lang="en-US" sz="1150" dirty="0"/>
          </a:p>
        </p:txBody>
      </p:sp>
      <p:sp>
        <p:nvSpPr>
          <p:cNvPr id="15" name="Shape 13"/>
          <p:cNvSpPr/>
          <p:nvPr/>
        </p:nvSpPr>
        <p:spPr>
          <a:xfrm>
            <a:off x="7392924" y="1837944"/>
            <a:ext cx="256032" cy="256032"/>
          </a:xfrm>
          <a:prstGeom prst="ellipse">
            <a:avLst/>
          </a:prstGeom>
          <a:solidFill>
            <a:srgbClr val="990011"/>
          </a:solidFill>
          <a:ln w="25400">
            <a:solidFill>
              <a:srgbClr val="FFFFFF"/>
            </a:solidFill>
            <a:prstDash val="solid"/>
          </a:ln>
        </p:spPr>
      </p:sp>
      <p:sp>
        <p:nvSpPr>
          <p:cNvPr id="16" name="Shape 14"/>
          <p:cNvSpPr/>
          <p:nvPr/>
        </p:nvSpPr>
        <p:spPr>
          <a:xfrm>
            <a:off x="6217920" y="2103120"/>
            <a:ext cx="2606040" cy="2194560"/>
          </a:xfrm>
          <a:prstGeom prst="roundRect">
            <a:avLst>
              <a:gd name="adj" fmla="val 3333"/>
            </a:avLst>
          </a:prstGeom>
          <a:solidFill>
            <a:srgbClr val="FFFFFF"/>
          </a:solidFill>
          <a:ln w="12700">
            <a:solidFill>
              <a:srgbClr val="E6DFDC"/>
            </a:solidFill>
            <a:prstDash val="solid"/>
          </a:ln>
          <a:effectLst>
            <a:outerShdw sx="100000" sy="100000" kx="0" ky="0" algn="bl" rotWithShape="0" blurRad="76200" dist="25400" dir="5400000">
              <a:srgbClr val="000000">
                <a:alpha val="10000"/>
              </a:srgbClr>
            </a:outerShdw>
          </a:effectLst>
        </p:spPr>
      </p:sp>
      <p:sp>
        <p:nvSpPr>
          <p:cNvPr id="17" name="Text 15"/>
          <p:cNvSpPr/>
          <p:nvPr/>
        </p:nvSpPr>
        <p:spPr>
          <a:xfrm>
            <a:off x="6400800" y="2267712"/>
            <a:ext cx="2240280" cy="365760"/>
          </a:xfrm>
          <a:prstGeom prst="rect">
            <a:avLst/>
          </a:prstGeom>
          <a:noFill/>
          <a:ln/>
        </p:spPr>
        <p:txBody>
          <a:bodyPr wrap="square" rtlCol="0" anchor="ctr"/>
          <a:lstStyle/>
          <a:p>
            <a:pPr indent="0" marL="0">
              <a:buNone/>
            </a:pPr>
            <a:r>
              <a:rPr lang="en-US" sz="1200" b="1" dirty="0">
                <a:solidFill>
                  <a:srgbClr val="990011"/>
                </a:solidFill>
                <a:latin typeface="Calibri" pitchFamily="34" charset="0"/>
                <a:ea typeface="Calibri" pitchFamily="34" charset="-122"/>
                <a:cs typeface="Calibri" pitchFamily="34" charset="-120"/>
              </a:rPr>
              <a:t>Wk 5–6</a:t>
            </a:r>
            <a:endParaRPr lang="en-US" sz="1200" dirty="0"/>
          </a:p>
        </p:txBody>
      </p:sp>
      <p:sp>
        <p:nvSpPr>
          <p:cNvPr id="18" name="Text 16"/>
          <p:cNvSpPr/>
          <p:nvPr/>
        </p:nvSpPr>
        <p:spPr>
          <a:xfrm>
            <a:off x="6400800" y="2651760"/>
            <a:ext cx="2240280" cy="777240"/>
          </a:xfrm>
          <a:prstGeom prst="rect">
            <a:avLst/>
          </a:prstGeom>
          <a:noFill/>
          <a:ln/>
        </p:spPr>
        <p:txBody>
          <a:bodyPr wrap="square" rtlCol="0" anchor="t"/>
          <a:lstStyle/>
          <a:p>
            <a:pPr indent="0" marL="0">
              <a:buNone/>
            </a:pPr>
            <a:r>
              <a:rPr lang="en-US" sz="1450" b="1" dirty="0">
                <a:solidFill>
                  <a:srgbClr val="2F3C7E"/>
                </a:solidFill>
                <a:latin typeface="Calibri" pitchFamily="34" charset="0"/>
                <a:ea typeface="Calibri" pitchFamily="34" charset="-122"/>
                <a:cs typeface="Calibri" pitchFamily="34" charset="-120"/>
              </a:rPr>
              <a:t>Back-End with Spring Boot</a:t>
            </a:r>
            <a:endParaRPr lang="en-US" sz="1450" dirty="0"/>
          </a:p>
        </p:txBody>
      </p:sp>
      <p:sp>
        <p:nvSpPr>
          <p:cNvPr id="19" name="Text 17"/>
          <p:cNvSpPr/>
          <p:nvPr/>
        </p:nvSpPr>
        <p:spPr>
          <a:xfrm>
            <a:off x="6400800" y="3520440"/>
            <a:ext cx="2240280" cy="685800"/>
          </a:xfrm>
          <a:prstGeom prst="rect">
            <a:avLst/>
          </a:prstGeom>
          <a:noFill/>
          <a:ln/>
        </p:spPr>
        <p:txBody>
          <a:bodyPr wrap="square" rtlCol="0" anchor="t"/>
          <a:lstStyle/>
          <a:p>
            <a:pPr indent="0" marL="0">
              <a:buNone/>
            </a:pPr>
            <a:r>
              <a:rPr lang="en-US" sz="1150" dirty="0">
                <a:solidFill>
                  <a:srgbClr val="6B6B6B"/>
                </a:solidFill>
                <a:latin typeface="Calibri" pitchFamily="34" charset="0"/>
                <a:ea typeface="Calibri" pitchFamily="34" charset="-122"/>
                <a:cs typeface="Calibri" pitchFamily="34" charset="-120"/>
              </a:rPr>
              <a:t>REST APIs &amp; business logic</a:t>
            </a:r>
            <a:endParaRPr lang="en-US" sz="1150" dirty="0"/>
          </a:p>
        </p:txBody>
      </p:sp>
      <p:sp>
        <p:nvSpPr>
          <p:cNvPr id="20" name="Shape 18"/>
          <p:cNvSpPr/>
          <p:nvPr/>
        </p:nvSpPr>
        <p:spPr>
          <a:xfrm>
            <a:off x="10227564" y="1837944"/>
            <a:ext cx="256032" cy="256032"/>
          </a:xfrm>
          <a:prstGeom prst="ellipse">
            <a:avLst/>
          </a:prstGeom>
          <a:solidFill>
            <a:srgbClr val="990011"/>
          </a:solidFill>
          <a:ln w="25400">
            <a:solidFill>
              <a:srgbClr val="FFFFFF"/>
            </a:solidFill>
            <a:prstDash val="solid"/>
          </a:ln>
        </p:spPr>
      </p:sp>
      <p:sp>
        <p:nvSpPr>
          <p:cNvPr id="21" name="Shape 19"/>
          <p:cNvSpPr/>
          <p:nvPr/>
        </p:nvSpPr>
        <p:spPr>
          <a:xfrm>
            <a:off x="9052560" y="2103120"/>
            <a:ext cx="2606040" cy="2194560"/>
          </a:xfrm>
          <a:prstGeom prst="roundRect">
            <a:avLst>
              <a:gd name="adj" fmla="val 3333"/>
            </a:avLst>
          </a:prstGeom>
          <a:solidFill>
            <a:srgbClr val="FFFFFF"/>
          </a:solidFill>
          <a:ln w="12700">
            <a:solidFill>
              <a:srgbClr val="E6DFDC"/>
            </a:solidFill>
            <a:prstDash val="solid"/>
          </a:ln>
          <a:effectLst>
            <a:outerShdw sx="100000" sy="100000" kx="0" ky="0" algn="bl" rotWithShape="0" blurRad="76200" dist="25400" dir="5400000">
              <a:srgbClr val="000000">
                <a:alpha val="10000"/>
              </a:srgbClr>
            </a:outerShdw>
          </a:effectLst>
        </p:spPr>
      </p:sp>
      <p:sp>
        <p:nvSpPr>
          <p:cNvPr id="22" name="Text 20"/>
          <p:cNvSpPr/>
          <p:nvPr/>
        </p:nvSpPr>
        <p:spPr>
          <a:xfrm>
            <a:off x="9235440" y="2267712"/>
            <a:ext cx="2240280" cy="365760"/>
          </a:xfrm>
          <a:prstGeom prst="rect">
            <a:avLst/>
          </a:prstGeom>
          <a:noFill/>
          <a:ln/>
        </p:spPr>
        <p:txBody>
          <a:bodyPr wrap="square" rtlCol="0" anchor="ctr"/>
          <a:lstStyle/>
          <a:p>
            <a:pPr indent="0" marL="0">
              <a:buNone/>
            </a:pPr>
            <a:r>
              <a:rPr lang="en-US" sz="1200" b="1" dirty="0">
                <a:solidFill>
                  <a:srgbClr val="990011"/>
                </a:solidFill>
                <a:latin typeface="Calibri" pitchFamily="34" charset="0"/>
                <a:ea typeface="Calibri" pitchFamily="34" charset="-122"/>
                <a:cs typeface="Calibri" pitchFamily="34" charset="-120"/>
              </a:rPr>
              <a:t>Wk 7–8</a:t>
            </a:r>
            <a:endParaRPr lang="en-US" sz="1200" dirty="0"/>
          </a:p>
        </p:txBody>
      </p:sp>
      <p:sp>
        <p:nvSpPr>
          <p:cNvPr id="23" name="Text 21"/>
          <p:cNvSpPr/>
          <p:nvPr/>
        </p:nvSpPr>
        <p:spPr>
          <a:xfrm>
            <a:off x="9235440" y="2651760"/>
            <a:ext cx="2240280" cy="777240"/>
          </a:xfrm>
          <a:prstGeom prst="rect">
            <a:avLst/>
          </a:prstGeom>
          <a:noFill/>
          <a:ln/>
        </p:spPr>
        <p:txBody>
          <a:bodyPr wrap="square" rtlCol="0" anchor="t"/>
          <a:lstStyle/>
          <a:p>
            <a:pPr indent="0" marL="0">
              <a:buNone/>
            </a:pPr>
            <a:r>
              <a:rPr lang="en-US" sz="1450" b="1" dirty="0">
                <a:solidFill>
                  <a:srgbClr val="2F3C7E"/>
                </a:solidFill>
                <a:latin typeface="Calibri" pitchFamily="34" charset="0"/>
                <a:ea typeface="Calibri" pitchFamily="34" charset="-122"/>
                <a:cs typeface="Calibri" pitchFamily="34" charset="-120"/>
              </a:rPr>
              <a:t>Integration &amp; Testing</a:t>
            </a:r>
            <a:endParaRPr lang="en-US" sz="1450" dirty="0"/>
          </a:p>
        </p:txBody>
      </p:sp>
      <p:sp>
        <p:nvSpPr>
          <p:cNvPr id="24" name="Text 22"/>
          <p:cNvSpPr/>
          <p:nvPr/>
        </p:nvSpPr>
        <p:spPr>
          <a:xfrm>
            <a:off x="9235440" y="3520440"/>
            <a:ext cx="2240280" cy="685800"/>
          </a:xfrm>
          <a:prstGeom prst="rect">
            <a:avLst/>
          </a:prstGeom>
          <a:noFill/>
          <a:ln/>
        </p:spPr>
        <p:txBody>
          <a:bodyPr wrap="square" rtlCol="0" anchor="t"/>
          <a:lstStyle/>
          <a:p>
            <a:pPr indent="0" marL="0">
              <a:buNone/>
            </a:pPr>
            <a:r>
              <a:rPr lang="en-US" sz="1150" dirty="0">
                <a:solidFill>
                  <a:srgbClr val="6B6B6B"/>
                </a:solidFill>
                <a:latin typeface="Calibri" pitchFamily="34" charset="0"/>
                <a:ea typeface="Calibri" pitchFamily="34" charset="-122"/>
                <a:cs typeface="Calibri" pitchFamily="34" charset="-120"/>
              </a:rPr>
              <a:t>Database integration, final assessment</a:t>
            </a:r>
            <a:endParaRPr lang="en-US" sz="1150" dirty="0"/>
          </a:p>
        </p:txBody>
      </p:sp>
      <p:pic>
        <p:nvPicPr>
          <p:cNvPr id="25" name="Image 0" descr="/home/claude/unpacked/word/media/image1.png">    </p:cNvPr>
          <p:cNvPicPr>
            <a:picLocks noChangeAspect="1"/>
          </p:cNvPicPr>
          <p:nvPr/>
        </p:nvPicPr>
        <p:blipFill>
          <a:blip r:embed="rId1"/>
          <a:stretch>
            <a:fillRect/>
          </a:stretch>
        </p:blipFill>
        <p:spPr>
          <a:xfrm>
            <a:off x="320040" y="6400800"/>
            <a:ext cx="292608" cy="310896"/>
          </a:xfrm>
          <a:prstGeom prst="rect">
            <a:avLst/>
          </a:prstGeom>
        </p:spPr>
      </p:pic>
      <p:sp>
        <p:nvSpPr>
          <p:cNvPr id="26" name="Text 23"/>
          <p:cNvSpPr/>
          <p:nvPr/>
        </p:nvSpPr>
        <p:spPr>
          <a:xfrm>
            <a:off x="685800" y="6419088"/>
            <a:ext cx="7315200" cy="274320"/>
          </a:xfrm>
          <a:prstGeom prst="rect">
            <a:avLst/>
          </a:prstGeom>
          <a:noFill/>
          <a:ln/>
        </p:spPr>
        <p:txBody>
          <a:bodyPr wrap="square" rtlCol="0" anchor="ctr"/>
          <a:lstStyle/>
          <a:p>
            <a:pPr algn="l" indent="0" marL="0">
              <a:buNone/>
            </a:pPr>
            <a:r>
              <a:rPr lang="en-US" sz="900" dirty="0">
                <a:solidFill>
                  <a:srgbClr val="6B6B6B"/>
                </a:solidFill>
                <a:latin typeface="Calibri" pitchFamily="34" charset="0"/>
                <a:ea typeface="Calibri" pitchFamily="34" charset="-122"/>
                <a:cs typeface="Calibri" pitchFamily="34" charset="-120"/>
              </a:rPr>
              <a:t>Java Full Stack Developer Virtual Internship</a:t>
            </a:r>
            <a:endParaRPr lang="en-US" sz="900" dirty="0"/>
          </a:p>
        </p:txBody>
      </p:sp>
      <p:sp>
        <p:nvSpPr>
          <p:cNvPr id="27" name="Text 24"/>
          <p:cNvSpPr/>
          <p:nvPr/>
        </p:nvSpPr>
        <p:spPr>
          <a:xfrm>
            <a:off x="11368735" y="6419088"/>
            <a:ext cx="548640" cy="274320"/>
          </a:xfrm>
          <a:prstGeom prst="rect">
            <a:avLst/>
          </a:prstGeom>
          <a:noFill/>
          <a:ln/>
        </p:spPr>
        <p:txBody>
          <a:bodyPr wrap="square"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6F5"/>
        </a:solidFill>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rtlCol="0" anchor="ctr"/>
          <a:lstStyle/>
          <a:p>
            <a:pPr indent="0" marL="0">
              <a:buNone/>
            </a:pPr>
            <a:r>
              <a:rPr lang="en-US" sz="1300" b="1" spc="200" kern="0" dirty="0">
                <a:solidFill>
                  <a:srgbClr val="990011"/>
                </a:solidFill>
                <a:latin typeface="Calibri" pitchFamily="34" charset="0"/>
                <a:ea typeface="Calibri" pitchFamily="34" charset="-122"/>
                <a:cs typeface="Calibri" pitchFamily="34" charset="-120"/>
              </a:rPr>
              <a:t>09 · EXPECTED OUTCOMES</a:t>
            </a:r>
            <a:endParaRPr lang="en-US" sz="1300" dirty="0"/>
          </a:p>
        </p:txBody>
      </p:sp>
      <p:sp>
        <p:nvSpPr>
          <p:cNvPr id="3" name="Text 1"/>
          <p:cNvSpPr/>
          <p:nvPr/>
        </p:nvSpPr>
        <p:spPr>
          <a:xfrm>
            <a:off x="548640" y="658368"/>
            <a:ext cx="10607040" cy="640080"/>
          </a:xfrm>
          <a:prstGeom prst="rect">
            <a:avLst/>
          </a:prstGeom>
          <a:noFill/>
          <a:ln/>
        </p:spPr>
        <p:txBody>
          <a:bodyPr wrap="square" rtlCol="0" anchor="ctr"/>
          <a:lstStyle/>
          <a:p>
            <a:pPr indent="0" marL="0">
              <a:buNone/>
            </a:pPr>
            <a:r>
              <a:rPr lang="en-US" sz="3000" b="1" dirty="0">
                <a:solidFill>
                  <a:srgbClr val="2F3C7E"/>
                </a:solidFill>
                <a:latin typeface="Cambria" pitchFamily="34" charset="0"/>
                <a:ea typeface="Cambria" pitchFamily="34" charset="-122"/>
                <a:cs typeface="Cambria" pitchFamily="34" charset="-120"/>
              </a:rPr>
              <a:t>Skills and Competencies Gained</a:t>
            </a:r>
            <a:endParaRPr lang="en-US" sz="3000" dirty="0"/>
          </a:p>
        </p:txBody>
      </p:sp>
      <p:sp>
        <p:nvSpPr>
          <p:cNvPr id="4" name="Shape 2"/>
          <p:cNvSpPr/>
          <p:nvPr/>
        </p:nvSpPr>
        <p:spPr>
          <a:xfrm>
            <a:off x="548640" y="1691640"/>
            <a:ext cx="5120640" cy="1234440"/>
          </a:xfrm>
          <a:prstGeom prst="roundRect">
            <a:avLst>
              <a:gd name="adj" fmla="val 5926"/>
            </a:avLst>
          </a:prstGeom>
          <a:solidFill>
            <a:srgbClr val="FFFFFF"/>
          </a:solidFill>
          <a:ln w="12700">
            <a:solidFill>
              <a:srgbClr val="E6DFDC"/>
            </a:solidFill>
            <a:prstDash val="solid"/>
          </a:ln>
          <a:effectLst>
            <a:outerShdw sx="100000" sy="100000" kx="0" ky="0" algn="bl" rotWithShape="0" blurRad="76200" dist="25400" dir="5400000">
              <a:srgbClr val="000000">
                <a:alpha val="10000"/>
              </a:srgbClr>
            </a:outerShdw>
          </a:effectLst>
        </p:spPr>
      </p:sp>
      <p:sp>
        <p:nvSpPr>
          <p:cNvPr id="5" name="Shape 3"/>
          <p:cNvSpPr/>
          <p:nvPr/>
        </p:nvSpPr>
        <p:spPr>
          <a:xfrm>
            <a:off x="749808" y="2089404"/>
            <a:ext cx="438912" cy="438912"/>
          </a:xfrm>
          <a:prstGeom prst="ellipse">
            <a:avLst/>
          </a:prstGeom>
          <a:solidFill>
            <a:srgbClr val="2F3C7E"/>
          </a:solidFill>
          <a:ln/>
        </p:spPr>
      </p:sp>
      <p:sp>
        <p:nvSpPr>
          <p:cNvPr id="6" name="Text 4"/>
          <p:cNvSpPr/>
          <p:nvPr/>
        </p:nvSpPr>
        <p:spPr>
          <a:xfrm>
            <a:off x="749808" y="2089404"/>
            <a:ext cx="438912" cy="4389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335024" y="1819656"/>
            <a:ext cx="4160520" cy="978408"/>
          </a:xfrm>
          <a:prstGeom prst="rect">
            <a:avLst/>
          </a:prstGeom>
          <a:noFill/>
          <a:ln/>
        </p:spPr>
        <p:txBody>
          <a:bodyPr wrap="square" rtlCol="0" anchor="ctr"/>
          <a:lstStyle/>
          <a:p>
            <a:pPr indent="0" marL="0">
              <a:lnSpc>
                <a:spcPct val="110000"/>
              </a:lnSpc>
              <a:buNone/>
            </a:pPr>
            <a:r>
              <a:rPr lang="en-US" sz="1350" dirty="0">
                <a:solidFill>
                  <a:srgbClr val="222222"/>
                </a:solidFill>
                <a:latin typeface="Calibri" pitchFamily="34" charset="0"/>
                <a:ea typeface="Calibri" pitchFamily="34" charset="-122"/>
                <a:cs typeface="Calibri" pitchFamily="34" charset="-120"/>
              </a:rPr>
              <a:t>Solid grasp of Java &amp; Object-Oriented Programming</a:t>
            </a:r>
            <a:endParaRPr lang="en-US" sz="1350" dirty="0"/>
          </a:p>
        </p:txBody>
      </p:sp>
      <p:sp>
        <p:nvSpPr>
          <p:cNvPr id="8" name="Shape 6"/>
          <p:cNvSpPr/>
          <p:nvPr/>
        </p:nvSpPr>
        <p:spPr>
          <a:xfrm>
            <a:off x="5989320" y="1691640"/>
            <a:ext cx="5120640" cy="1234440"/>
          </a:xfrm>
          <a:prstGeom prst="roundRect">
            <a:avLst>
              <a:gd name="adj" fmla="val 5926"/>
            </a:avLst>
          </a:prstGeom>
          <a:solidFill>
            <a:srgbClr val="FFFFFF"/>
          </a:solidFill>
          <a:ln w="12700">
            <a:solidFill>
              <a:srgbClr val="E6DFDC"/>
            </a:solidFill>
            <a:prstDash val="solid"/>
          </a:ln>
          <a:effectLst>
            <a:outerShdw sx="100000" sy="100000" kx="0" ky="0" algn="bl" rotWithShape="0" blurRad="76200" dist="25400" dir="5400000">
              <a:srgbClr val="000000">
                <a:alpha val="10000"/>
              </a:srgbClr>
            </a:outerShdw>
          </a:effectLst>
        </p:spPr>
      </p:sp>
      <p:sp>
        <p:nvSpPr>
          <p:cNvPr id="9" name="Shape 7"/>
          <p:cNvSpPr/>
          <p:nvPr/>
        </p:nvSpPr>
        <p:spPr>
          <a:xfrm>
            <a:off x="6190488" y="2089404"/>
            <a:ext cx="438912" cy="438912"/>
          </a:xfrm>
          <a:prstGeom prst="ellipse">
            <a:avLst/>
          </a:prstGeom>
          <a:solidFill>
            <a:srgbClr val="2F3C7E"/>
          </a:solidFill>
          <a:ln/>
        </p:spPr>
      </p:sp>
      <p:sp>
        <p:nvSpPr>
          <p:cNvPr id="10" name="Text 8"/>
          <p:cNvSpPr/>
          <p:nvPr/>
        </p:nvSpPr>
        <p:spPr>
          <a:xfrm>
            <a:off x="6190488" y="2089404"/>
            <a:ext cx="438912" cy="4389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1" name="Text 9"/>
          <p:cNvSpPr/>
          <p:nvPr/>
        </p:nvSpPr>
        <p:spPr>
          <a:xfrm>
            <a:off x="6775704" y="1819656"/>
            <a:ext cx="4160520" cy="978408"/>
          </a:xfrm>
          <a:prstGeom prst="rect">
            <a:avLst/>
          </a:prstGeom>
          <a:noFill/>
          <a:ln/>
        </p:spPr>
        <p:txBody>
          <a:bodyPr wrap="square" rtlCol="0" anchor="ctr"/>
          <a:lstStyle/>
          <a:p>
            <a:pPr indent="0" marL="0">
              <a:lnSpc>
                <a:spcPct val="110000"/>
              </a:lnSpc>
              <a:buNone/>
            </a:pPr>
            <a:r>
              <a:rPr lang="en-US" sz="1350" dirty="0">
                <a:solidFill>
                  <a:srgbClr val="222222"/>
                </a:solidFill>
                <a:latin typeface="Calibri" pitchFamily="34" charset="0"/>
                <a:ea typeface="Calibri" pitchFamily="34" charset="-122"/>
                <a:cs typeface="Calibri" pitchFamily="34" charset="-120"/>
              </a:rPr>
              <a:t>Ability to build responsive web front-ends independently</a:t>
            </a:r>
            <a:endParaRPr lang="en-US" sz="1350" dirty="0"/>
          </a:p>
        </p:txBody>
      </p:sp>
      <p:sp>
        <p:nvSpPr>
          <p:cNvPr id="12" name="Shape 10"/>
          <p:cNvSpPr/>
          <p:nvPr/>
        </p:nvSpPr>
        <p:spPr>
          <a:xfrm>
            <a:off x="548640" y="3182112"/>
            <a:ext cx="5120640" cy="1234440"/>
          </a:xfrm>
          <a:prstGeom prst="roundRect">
            <a:avLst>
              <a:gd name="adj" fmla="val 5926"/>
            </a:avLst>
          </a:prstGeom>
          <a:solidFill>
            <a:srgbClr val="FFFFFF"/>
          </a:solidFill>
          <a:ln w="12700">
            <a:solidFill>
              <a:srgbClr val="E6DFDC"/>
            </a:solidFill>
            <a:prstDash val="solid"/>
          </a:ln>
          <a:effectLst>
            <a:outerShdw sx="100000" sy="100000" kx="0" ky="0" algn="bl" rotWithShape="0" blurRad="76200" dist="25400" dir="5400000">
              <a:srgbClr val="000000">
                <a:alpha val="10000"/>
              </a:srgbClr>
            </a:outerShdw>
          </a:effectLst>
        </p:spPr>
      </p:sp>
      <p:sp>
        <p:nvSpPr>
          <p:cNvPr id="13" name="Shape 11"/>
          <p:cNvSpPr/>
          <p:nvPr/>
        </p:nvSpPr>
        <p:spPr>
          <a:xfrm>
            <a:off x="749808" y="3579876"/>
            <a:ext cx="438912" cy="438912"/>
          </a:xfrm>
          <a:prstGeom prst="ellipse">
            <a:avLst/>
          </a:prstGeom>
          <a:solidFill>
            <a:srgbClr val="2F3C7E"/>
          </a:solidFill>
          <a:ln/>
        </p:spPr>
      </p:sp>
      <p:sp>
        <p:nvSpPr>
          <p:cNvPr id="14" name="Text 12"/>
          <p:cNvSpPr/>
          <p:nvPr/>
        </p:nvSpPr>
        <p:spPr>
          <a:xfrm>
            <a:off x="749808" y="3579876"/>
            <a:ext cx="438912" cy="4389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5" name="Text 13"/>
          <p:cNvSpPr/>
          <p:nvPr/>
        </p:nvSpPr>
        <p:spPr>
          <a:xfrm>
            <a:off x="1335024" y="3310128"/>
            <a:ext cx="4160520" cy="978408"/>
          </a:xfrm>
          <a:prstGeom prst="rect">
            <a:avLst/>
          </a:prstGeom>
          <a:noFill/>
          <a:ln/>
        </p:spPr>
        <p:txBody>
          <a:bodyPr wrap="square" rtlCol="0" anchor="ctr"/>
          <a:lstStyle/>
          <a:p>
            <a:pPr indent="0" marL="0">
              <a:lnSpc>
                <a:spcPct val="110000"/>
              </a:lnSpc>
              <a:buNone/>
            </a:pPr>
            <a:r>
              <a:rPr lang="en-US" sz="1350" dirty="0">
                <a:solidFill>
                  <a:srgbClr val="222222"/>
                </a:solidFill>
                <a:latin typeface="Calibri" pitchFamily="34" charset="0"/>
                <a:ea typeface="Calibri" pitchFamily="34" charset="-122"/>
                <a:cs typeface="Calibri" pitchFamily="34" charset="-120"/>
              </a:rPr>
              <a:t>Competence in developing REST APIs with Spring Boot</a:t>
            </a:r>
            <a:endParaRPr lang="en-US" sz="1350" dirty="0"/>
          </a:p>
        </p:txBody>
      </p:sp>
      <p:sp>
        <p:nvSpPr>
          <p:cNvPr id="16" name="Shape 14"/>
          <p:cNvSpPr/>
          <p:nvPr/>
        </p:nvSpPr>
        <p:spPr>
          <a:xfrm>
            <a:off x="5989320" y="3182112"/>
            <a:ext cx="5120640" cy="1234440"/>
          </a:xfrm>
          <a:prstGeom prst="roundRect">
            <a:avLst>
              <a:gd name="adj" fmla="val 5926"/>
            </a:avLst>
          </a:prstGeom>
          <a:solidFill>
            <a:srgbClr val="FFFFFF"/>
          </a:solidFill>
          <a:ln w="12700">
            <a:solidFill>
              <a:srgbClr val="E6DFDC"/>
            </a:solidFill>
            <a:prstDash val="solid"/>
          </a:ln>
          <a:effectLst>
            <a:outerShdw sx="100000" sy="100000" kx="0" ky="0" algn="bl" rotWithShape="0" blurRad="76200" dist="25400" dir="5400000">
              <a:srgbClr val="000000">
                <a:alpha val="10000"/>
              </a:srgbClr>
            </a:outerShdw>
          </a:effectLst>
        </p:spPr>
      </p:sp>
      <p:sp>
        <p:nvSpPr>
          <p:cNvPr id="17" name="Shape 15"/>
          <p:cNvSpPr/>
          <p:nvPr/>
        </p:nvSpPr>
        <p:spPr>
          <a:xfrm>
            <a:off x="6190488" y="3579876"/>
            <a:ext cx="438912" cy="438912"/>
          </a:xfrm>
          <a:prstGeom prst="ellipse">
            <a:avLst/>
          </a:prstGeom>
          <a:solidFill>
            <a:srgbClr val="2F3C7E"/>
          </a:solidFill>
          <a:ln/>
        </p:spPr>
      </p:sp>
      <p:sp>
        <p:nvSpPr>
          <p:cNvPr id="18" name="Text 16"/>
          <p:cNvSpPr/>
          <p:nvPr/>
        </p:nvSpPr>
        <p:spPr>
          <a:xfrm>
            <a:off x="6190488" y="3579876"/>
            <a:ext cx="438912" cy="4389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9" name="Text 17"/>
          <p:cNvSpPr/>
          <p:nvPr/>
        </p:nvSpPr>
        <p:spPr>
          <a:xfrm>
            <a:off x="6775704" y="3310128"/>
            <a:ext cx="4160520" cy="978408"/>
          </a:xfrm>
          <a:prstGeom prst="rect">
            <a:avLst/>
          </a:prstGeom>
          <a:noFill/>
          <a:ln/>
        </p:spPr>
        <p:txBody>
          <a:bodyPr wrap="square" rtlCol="0" anchor="ctr"/>
          <a:lstStyle/>
          <a:p>
            <a:pPr indent="0" marL="0">
              <a:lnSpc>
                <a:spcPct val="110000"/>
              </a:lnSpc>
              <a:buNone/>
            </a:pPr>
            <a:r>
              <a:rPr lang="en-US" sz="1350" dirty="0">
                <a:solidFill>
                  <a:srgbClr val="222222"/>
                </a:solidFill>
                <a:latin typeface="Calibri" pitchFamily="34" charset="0"/>
                <a:ea typeface="Calibri" pitchFamily="34" charset="-122"/>
                <a:cs typeface="Calibri" pitchFamily="34" charset="-120"/>
              </a:rPr>
              <a:t>Practical experience connecting Java apps to a database</a:t>
            </a:r>
            <a:endParaRPr lang="en-US" sz="1350" dirty="0"/>
          </a:p>
        </p:txBody>
      </p:sp>
      <p:sp>
        <p:nvSpPr>
          <p:cNvPr id="20" name="Shape 18"/>
          <p:cNvSpPr/>
          <p:nvPr/>
        </p:nvSpPr>
        <p:spPr>
          <a:xfrm>
            <a:off x="548640" y="4672584"/>
            <a:ext cx="5120640" cy="1234440"/>
          </a:xfrm>
          <a:prstGeom prst="roundRect">
            <a:avLst>
              <a:gd name="adj" fmla="val 5926"/>
            </a:avLst>
          </a:prstGeom>
          <a:solidFill>
            <a:srgbClr val="FFFFFF"/>
          </a:solidFill>
          <a:ln w="12700">
            <a:solidFill>
              <a:srgbClr val="E6DFDC"/>
            </a:solidFill>
            <a:prstDash val="solid"/>
          </a:ln>
          <a:effectLst>
            <a:outerShdw sx="100000" sy="100000" kx="0" ky="0" algn="bl" rotWithShape="0" blurRad="76200" dist="25400" dir="5400000">
              <a:srgbClr val="000000">
                <a:alpha val="10000"/>
              </a:srgbClr>
            </a:outerShdw>
          </a:effectLst>
        </p:spPr>
      </p:sp>
      <p:sp>
        <p:nvSpPr>
          <p:cNvPr id="21" name="Shape 19"/>
          <p:cNvSpPr/>
          <p:nvPr/>
        </p:nvSpPr>
        <p:spPr>
          <a:xfrm>
            <a:off x="749808" y="5070348"/>
            <a:ext cx="438912" cy="438912"/>
          </a:xfrm>
          <a:prstGeom prst="ellipse">
            <a:avLst/>
          </a:prstGeom>
          <a:solidFill>
            <a:srgbClr val="2F3C7E"/>
          </a:solidFill>
          <a:ln/>
        </p:spPr>
      </p:sp>
      <p:sp>
        <p:nvSpPr>
          <p:cNvPr id="22" name="Text 20"/>
          <p:cNvSpPr/>
          <p:nvPr/>
        </p:nvSpPr>
        <p:spPr>
          <a:xfrm>
            <a:off x="749808" y="5070348"/>
            <a:ext cx="438912" cy="4389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23" name="Text 21"/>
          <p:cNvSpPr/>
          <p:nvPr/>
        </p:nvSpPr>
        <p:spPr>
          <a:xfrm>
            <a:off x="1335024" y="4800600"/>
            <a:ext cx="4160520" cy="978408"/>
          </a:xfrm>
          <a:prstGeom prst="rect">
            <a:avLst/>
          </a:prstGeom>
          <a:noFill/>
          <a:ln/>
        </p:spPr>
        <p:txBody>
          <a:bodyPr wrap="square" rtlCol="0" anchor="ctr"/>
          <a:lstStyle/>
          <a:p>
            <a:pPr indent="0" marL="0">
              <a:lnSpc>
                <a:spcPct val="110000"/>
              </a:lnSpc>
              <a:buNone/>
            </a:pPr>
            <a:r>
              <a:rPr lang="en-US" sz="1350" dirty="0">
                <a:solidFill>
                  <a:srgbClr val="222222"/>
                </a:solidFill>
                <a:latin typeface="Calibri" pitchFamily="34" charset="0"/>
                <a:ea typeface="Calibri" pitchFamily="34" charset="-122"/>
                <a:cs typeface="Calibri" pitchFamily="34" charset="-120"/>
              </a:rPr>
              <a:t>Improved problem-solving and debugging skills</a:t>
            </a:r>
            <a:endParaRPr lang="en-US" sz="1350" dirty="0"/>
          </a:p>
        </p:txBody>
      </p:sp>
      <p:sp>
        <p:nvSpPr>
          <p:cNvPr id="24" name="Shape 22"/>
          <p:cNvSpPr/>
          <p:nvPr/>
        </p:nvSpPr>
        <p:spPr>
          <a:xfrm>
            <a:off x="5989320" y="4672584"/>
            <a:ext cx="5120640" cy="1234440"/>
          </a:xfrm>
          <a:prstGeom prst="roundRect">
            <a:avLst>
              <a:gd name="adj" fmla="val 5926"/>
            </a:avLst>
          </a:prstGeom>
          <a:solidFill>
            <a:srgbClr val="FFFFFF"/>
          </a:solidFill>
          <a:ln w="12700">
            <a:solidFill>
              <a:srgbClr val="E6DFDC"/>
            </a:solidFill>
            <a:prstDash val="solid"/>
          </a:ln>
          <a:effectLst>
            <a:outerShdw sx="100000" sy="100000" kx="0" ky="0" algn="bl" rotWithShape="0" blurRad="76200" dist="25400" dir="5400000">
              <a:srgbClr val="000000">
                <a:alpha val="10000"/>
              </a:srgbClr>
            </a:outerShdw>
          </a:effectLst>
        </p:spPr>
      </p:sp>
      <p:sp>
        <p:nvSpPr>
          <p:cNvPr id="25" name="Shape 23"/>
          <p:cNvSpPr/>
          <p:nvPr/>
        </p:nvSpPr>
        <p:spPr>
          <a:xfrm>
            <a:off x="6190488" y="5070348"/>
            <a:ext cx="438912" cy="438912"/>
          </a:xfrm>
          <a:prstGeom prst="ellipse">
            <a:avLst/>
          </a:prstGeom>
          <a:solidFill>
            <a:srgbClr val="2F3C7E"/>
          </a:solidFill>
          <a:ln/>
        </p:spPr>
      </p:sp>
      <p:sp>
        <p:nvSpPr>
          <p:cNvPr id="26" name="Text 24"/>
          <p:cNvSpPr/>
          <p:nvPr/>
        </p:nvSpPr>
        <p:spPr>
          <a:xfrm>
            <a:off x="6190488" y="5070348"/>
            <a:ext cx="438912" cy="438912"/>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27" name="Text 25"/>
          <p:cNvSpPr/>
          <p:nvPr/>
        </p:nvSpPr>
        <p:spPr>
          <a:xfrm>
            <a:off x="6775704" y="4800600"/>
            <a:ext cx="4160520" cy="978408"/>
          </a:xfrm>
          <a:prstGeom prst="rect">
            <a:avLst/>
          </a:prstGeom>
          <a:noFill/>
          <a:ln/>
        </p:spPr>
        <p:txBody>
          <a:bodyPr wrap="square" rtlCol="0" anchor="ctr"/>
          <a:lstStyle/>
          <a:p>
            <a:pPr indent="0" marL="0">
              <a:lnSpc>
                <a:spcPct val="110000"/>
              </a:lnSpc>
              <a:buNone/>
            </a:pPr>
            <a:r>
              <a:rPr lang="en-US" sz="1350" dirty="0">
                <a:solidFill>
                  <a:srgbClr val="222222"/>
                </a:solidFill>
                <a:latin typeface="Calibri" pitchFamily="34" charset="0"/>
                <a:ea typeface="Calibri" pitchFamily="34" charset="-122"/>
                <a:cs typeface="Calibri" pitchFamily="34" charset="-120"/>
              </a:rPr>
              <a:t>Readiness for entry-level full stack development roles</a:t>
            </a:r>
            <a:endParaRPr lang="en-US" sz="1350" dirty="0"/>
          </a:p>
        </p:txBody>
      </p:sp>
      <p:pic>
        <p:nvPicPr>
          <p:cNvPr id="28" name="Image 0" descr="/home/claude/unpacked/word/media/image1.png">    </p:cNvPr>
          <p:cNvPicPr>
            <a:picLocks noChangeAspect="1"/>
          </p:cNvPicPr>
          <p:nvPr/>
        </p:nvPicPr>
        <p:blipFill>
          <a:blip r:embed="rId1"/>
          <a:stretch>
            <a:fillRect/>
          </a:stretch>
        </p:blipFill>
        <p:spPr>
          <a:xfrm>
            <a:off x="320040" y="6400800"/>
            <a:ext cx="292608" cy="310896"/>
          </a:xfrm>
          <a:prstGeom prst="rect">
            <a:avLst/>
          </a:prstGeom>
        </p:spPr>
      </p:pic>
      <p:sp>
        <p:nvSpPr>
          <p:cNvPr id="29" name="Text 26"/>
          <p:cNvSpPr/>
          <p:nvPr/>
        </p:nvSpPr>
        <p:spPr>
          <a:xfrm>
            <a:off x="685800" y="6419088"/>
            <a:ext cx="7315200" cy="274320"/>
          </a:xfrm>
          <a:prstGeom prst="rect">
            <a:avLst/>
          </a:prstGeom>
          <a:noFill/>
          <a:ln/>
        </p:spPr>
        <p:txBody>
          <a:bodyPr wrap="square" rtlCol="0" anchor="ctr"/>
          <a:lstStyle/>
          <a:p>
            <a:pPr algn="l" indent="0" marL="0">
              <a:buNone/>
            </a:pPr>
            <a:r>
              <a:rPr lang="en-US" sz="900" dirty="0">
                <a:solidFill>
                  <a:srgbClr val="6B6B6B"/>
                </a:solidFill>
                <a:latin typeface="Calibri" pitchFamily="34" charset="0"/>
                <a:ea typeface="Calibri" pitchFamily="34" charset="-122"/>
                <a:cs typeface="Calibri" pitchFamily="34" charset="-120"/>
              </a:rPr>
              <a:t>Java Full Stack Developer Virtual Internship</a:t>
            </a:r>
            <a:endParaRPr lang="en-US" sz="900" dirty="0"/>
          </a:p>
        </p:txBody>
      </p:sp>
      <p:sp>
        <p:nvSpPr>
          <p:cNvPr id="30" name="Text 27"/>
          <p:cNvSpPr/>
          <p:nvPr/>
        </p:nvSpPr>
        <p:spPr>
          <a:xfrm>
            <a:off x="11368735" y="6419088"/>
            <a:ext cx="548640" cy="274320"/>
          </a:xfrm>
          <a:prstGeom prst="rect">
            <a:avLst/>
          </a:prstGeom>
          <a:noFill/>
          <a:ln/>
        </p:spPr>
        <p:txBody>
          <a:bodyPr wrap="square"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F3C7E"/>
        </a:solidFill>
      </p:bgPr>
    </p:bg>
    <p:spTree>
      <p:nvGrpSpPr>
        <p:cNvPr id="1" name=""/>
        <p:cNvGrpSpPr/>
        <p:nvPr/>
      </p:nvGrpSpPr>
      <p:grpSpPr>
        <a:xfrm>
          <a:off x="0" y="0"/>
          <a:ext cx="0" cy="0"/>
          <a:chOff x="0" y="0"/>
          <a:chExt cx="0" cy="0"/>
        </a:xfrm>
      </p:grpSpPr>
      <p:sp>
        <p:nvSpPr>
          <p:cNvPr id="2" name="Text 0"/>
          <p:cNvSpPr/>
          <p:nvPr/>
        </p:nvSpPr>
        <p:spPr>
          <a:xfrm>
            <a:off x="548640" y="457200"/>
            <a:ext cx="9144000" cy="320040"/>
          </a:xfrm>
          <a:prstGeom prst="rect">
            <a:avLst/>
          </a:prstGeom>
          <a:noFill/>
          <a:ln/>
        </p:spPr>
        <p:txBody>
          <a:bodyPr wrap="square" rtlCol="0" anchor="ctr"/>
          <a:lstStyle/>
          <a:p>
            <a:pPr indent="0" marL="0">
              <a:buNone/>
            </a:pPr>
            <a:r>
              <a:rPr lang="en-US" sz="1300" b="1" spc="200" kern="0" dirty="0">
                <a:solidFill>
                  <a:srgbClr val="F4B6B6"/>
                </a:solidFill>
                <a:latin typeface="Calibri" pitchFamily="34" charset="0"/>
                <a:ea typeface="Calibri" pitchFamily="34" charset="-122"/>
                <a:cs typeface="Calibri" pitchFamily="34" charset="-120"/>
              </a:rPr>
              <a:t>10 · CERTIFICATE OF COMPLETION</a:t>
            </a:r>
            <a:endParaRPr lang="en-US" sz="1300" dirty="0"/>
          </a:p>
        </p:txBody>
      </p:sp>
      <p:sp>
        <p:nvSpPr>
          <p:cNvPr id="3" name="Text 1"/>
          <p:cNvSpPr/>
          <p:nvPr/>
        </p:nvSpPr>
        <p:spPr>
          <a:xfrm>
            <a:off x="548640" y="777240"/>
            <a:ext cx="10789920" cy="54864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Recognized by AICTE, MoE &amp; EduSkills Academy</a:t>
            </a:r>
            <a:endParaRPr lang="en-US" sz="2600" dirty="0"/>
          </a:p>
        </p:txBody>
      </p:sp>
      <p:sp>
        <p:nvSpPr>
          <p:cNvPr id="4" name="Shape 2"/>
          <p:cNvSpPr/>
          <p:nvPr/>
        </p:nvSpPr>
        <p:spPr>
          <a:xfrm>
            <a:off x="7971499" y="1435608"/>
            <a:ext cx="3607548" cy="5038344"/>
          </a:xfrm>
          <a:prstGeom prst="roundRect">
            <a:avLst>
              <a:gd name="adj" fmla="val 1267"/>
            </a:avLst>
          </a:prstGeom>
          <a:solidFill>
            <a:srgbClr val="FFFFFF"/>
          </a:solidFill>
          <a:ln/>
          <a:effectLst>
            <a:outerShdw sx="100000" sy="100000" kx="0" ky="0" algn="bl" rotWithShape="0" blurRad="152400" dist="50800" dir="5400000">
              <a:srgbClr val="000000">
                <a:alpha val="35000"/>
              </a:srgbClr>
            </a:outerShdw>
          </a:effectLst>
        </p:spPr>
      </p:sp>
      <p:pic>
        <p:nvPicPr>
          <p:cNvPr id="5" name="Image 0" descr="/home/claude/certimg-1.jpg">    </p:cNvPr>
          <p:cNvPicPr>
            <a:picLocks noChangeAspect="1"/>
          </p:cNvPicPr>
          <p:nvPr/>
        </p:nvPicPr>
        <p:blipFill>
          <a:blip r:embed="rId1"/>
          <a:stretch>
            <a:fillRect/>
          </a:stretch>
        </p:blipFill>
        <p:spPr>
          <a:xfrm>
            <a:off x="8044651" y="1508760"/>
            <a:ext cx="3461244" cy="4892040"/>
          </a:xfrm>
          <a:prstGeom prst="rect">
            <a:avLst/>
          </a:prstGeom>
        </p:spPr>
      </p:pic>
      <p:sp>
        <p:nvSpPr>
          <p:cNvPr id="6" name="Text 3"/>
          <p:cNvSpPr/>
          <p:nvPr/>
        </p:nvSpPr>
        <p:spPr>
          <a:xfrm>
            <a:off x="548640" y="1783080"/>
            <a:ext cx="4937760" cy="292608"/>
          </a:xfrm>
          <a:prstGeom prst="rect">
            <a:avLst/>
          </a:prstGeom>
          <a:noFill/>
          <a:ln/>
        </p:spPr>
        <p:txBody>
          <a:bodyPr wrap="square" rtlCol="0" anchor="ctr"/>
          <a:lstStyle/>
          <a:p>
            <a:pPr indent="0" marL="0">
              <a:buNone/>
            </a:pPr>
            <a:r>
              <a:rPr lang="en-US" sz="1100" b="1" spc="100" kern="0" dirty="0">
                <a:solidFill>
                  <a:srgbClr val="9FB0DC"/>
                </a:solidFill>
                <a:latin typeface="Calibri" pitchFamily="34" charset="0"/>
                <a:ea typeface="Calibri" pitchFamily="34" charset="-122"/>
                <a:cs typeface="Calibri" pitchFamily="34" charset="-120"/>
              </a:rPr>
              <a:t>PROGRAM</a:t>
            </a:r>
            <a:endParaRPr lang="en-US" sz="1100" dirty="0"/>
          </a:p>
        </p:txBody>
      </p:sp>
      <p:sp>
        <p:nvSpPr>
          <p:cNvPr id="7" name="Text 4"/>
          <p:cNvSpPr/>
          <p:nvPr/>
        </p:nvSpPr>
        <p:spPr>
          <a:xfrm>
            <a:off x="548640" y="2057400"/>
            <a:ext cx="4937760" cy="45720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Java Full Stack Developer Virtual Internship</a:t>
            </a:r>
            <a:endParaRPr lang="en-US" sz="1500" dirty="0"/>
          </a:p>
        </p:txBody>
      </p:sp>
      <p:sp>
        <p:nvSpPr>
          <p:cNvPr id="8" name="Text 5"/>
          <p:cNvSpPr/>
          <p:nvPr/>
        </p:nvSpPr>
        <p:spPr>
          <a:xfrm>
            <a:off x="548640" y="2569464"/>
            <a:ext cx="4937760" cy="292608"/>
          </a:xfrm>
          <a:prstGeom prst="rect">
            <a:avLst/>
          </a:prstGeom>
          <a:noFill/>
          <a:ln/>
        </p:spPr>
        <p:txBody>
          <a:bodyPr wrap="square" rtlCol="0" anchor="ctr"/>
          <a:lstStyle/>
          <a:p>
            <a:pPr indent="0" marL="0">
              <a:buNone/>
            </a:pPr>
            <a:r>
              <a:rPr lang="en-US" sz="1100" b="1" spc="100" kern="0" dirty="0">
                <a:solidFill>
                  <a:srgbClr val="9FB0DC"/>
                </a:solidFill>
                <a:latin typeface="Calibri" pitchFamily="34" charset="0"/>
                <a:ea typeface="Calibri" pitchFamily="34" charset="-122"/>
                <a:cs typeface="Calibri" pitchFamily="34" charset="-120"/>
              </a:rPr>
              <a:t>DURATION</a:t>
            </a:r>
            <a:endParaRPr lang="en-US" sz="1100" dirty="0"/>
          </a:p>
        </p:txBody>
      </p:sp>
      <p:sp>
        <p:nvSpPr>
          <p:cNvPr id="9" name="Text 6"/>
          <p:cNvSpPr/>
          <p:nvPr/>
        </p:nvSpPr>
        <p:spPr>
          <a:xfrm>
            <a:off x="548640" y="2843784"/>
            <a:ext cx="4937760" cy="45720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8 Weeks (August – October 2026)</a:t>
            </a:r>
            <a:endParaRPr lang="en-US" sz="1500" dirty="0"/>
          </a:p>
        </p:txBody>
      </p:sp>
      <p:sp>
        <p:nvSpPr>
          <p:cNvPr id="10" name="Text 7"/>
          <p:cNvSpPr/>
          <p:nvPr/>
        </p:nvSpPr>
        <p:spPr>
          <a:xfrm>
            <a:off x="548640" y="3355848"/>
            <a:ext cx="4937760" cy="292608"/>
          </a:xfrm>
          <a:prstGeom prst="rect">
            <a:avLst/>
          </a:prstGeom>
          <a:noFill/>
          <a:ln/>
        </p:spPr>
        <p:txBody>
          <a:bodyPr wrap="square" rtlCol="0" anchor="ctr"/>
          <a:lstStyle/>
          <a:p>
            <a:pPr indent="0" marL="0">
              <a:buNone/>
            </a:pPr>
            <a:r>
              <a:rPr lang="en-US" sz="1100" b="1" spc="100" kern="0" dirty="0">
                <a:solidFill>
                  <a:srgbClr val="9FB0DC"/>
                </a:solidFill>
                <a:latin typeface="Calibri" pitchFamily="34" charset="0"/>
                <a:ea typeface="Calibri" pitchFamily="34" charset="-122"/>
                <a:cs typeface="Calibri" pitchFamily="34" charset="-120"/>
              </a:rPr>
              <a:t>GRADE</a:t>
            </a:r>
            <a:endParaRPr lang="en-US" sz="1100" dirty="0"/>
          </a:p>
        </p:txBody>
      </p:sp>
      <p:sp>
        <p:nvSpPr>
          <p:cNvPr id="11" name="Text 8"/>
          <p:cNvSpPr/>
          <p:nvPr/>
        </p:nvSpPr>
        <p:spPr>
          <a:xfrm>
            <a:off x="548640" y="3630168"/>
            <a:ext cx="4937760" cy="45720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 — Outstanding</a:t>
            </a:r>
            <a:endParaRPr lang="en-US" sz="1500" dirty="0"/>
          </a:p>
        </p:txBody>
      </p:sp>
      <p:sp>
        <p:nvSpPr>
          <p:cNvPr id="12" name="Text 9"/>
          <p:cNvSpPr/>
          <p:nvPr/>
        </p:nvSpPr>
        <p:spPr>
          <a:xfrm>
            <a:off x="548640" y="4142232"/>
            <a:ext cx="4937760" cy="292608"/>
          </a:xfrm>
          <a:prstGeom prst="rect">
            <a:avLst/>
          </a:prstGeom>
          <a:noFill/>
          <a:ln/>
        </p:spPr>
        <p:txBody>
          <a:bodyPr wrap="square" rtlCol="0" anchor="ctr"/>
          <a:lstStyle/>
          <a:p>
            <a:pPr indent="0" marL="0">
              <a:buNone/>
            </a:pPr>
            <a:r>
              <a:rPr lang="en-US" sz="1100" b="1" spc="100" kern="0" dirty="0">
                <a:solidFill>
                  <a:srgbClr val="9FB0DC"/>
                </a:solidFill>
                <a:latin typeface="Calibri" pitchFamily="34" charset="0"/>
                <a:ea typeface="Calibri" pitchFamily="34" charset="-122"/>
                <a:cs typeface="Calibri" pitchFamily="34" charset="-120"/>
              </a:rPr>
              <a:t>CERTIFICATE ID</a:t>
            </a:r>
            <a:endParaRPr lang="en-US" sz="1100" dirty="0"/>
          </a:p>
        </p:txBody>
      </p:sp>
      <p:sp>
        <p:nvSpPr>
          <p:cNvPr id="13" name="Text 10"/>
          <p:cNvSpPr/>
          <p:nvPr/>
        </p:nvSpPr>
        <p:spPr>
          <a:xfrm>
            <a:off x="548640" y="4416552"/>
            <a:ext cx="4937760" cy="45720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4c05a4ae6a641a9f2cf0</a:t>
            </a:r>
            <a:endParaRPr lang="en-US" sz="1500" dirty="0"/>
          </a:p>
        </p:txBody>
      </p:sp>
      <p:sp>
        <p:nvSpPr>
          <p:cNvPr id="14" name="Text 11"/>
          <p:cNvSpPr/>
          <p:nvPr/>
        </p:nvSpPr>
        <p:spPr>
          <a:xfrm>
            <a:off x="548640" y="4928616"/>
            <a:ext cx="4937760" cy="292608"/>
          </a:xfrm>
          <a:prstGeom prst="rect">
            <a:avLst/>
          </a:prstGeom>
          <a:noFill/>
          <a:ln/>
        </p:spPr>
        <p:txBody>
          <a:bodyPr wrap="square" rtlCol="0" anchor="ctr"/>
          <a:lstStyle/>
          <a:p>
            <a:pPr indent="0" marL="0">
              <a:buNone/>
            </a:pPr>
            <a:r>
              <a:rPr lang="en-US" sz="1100" b="1" spc="100" kern="0" dirty="0">
                <a:solidFill>
                  <a:srgbClr val="9FB0DC"/>
                </a:solidFill>
                <a:latin typeface="Calibri" pitchFamily="34" charset="0"/>
                <a:ea typeface="Calibri" pitchFamily="34" charset="-122"/>
                <a:cs typeface="Calibri" pitchFamily="34" charset="-120"/>
              </a:rPr>
              <a:t>STUDENT ID</a:t>
            </a:r>
            <a:endParaRPr lang="en-US" sz="1100" dirty="0"/>
          </a:p>
        </p:txBody>
      </p:sp>
      <p:sp>
        <p:nvSpPr>
          <p:cNvPr id="15" name="Text 12"/>
          <p:cNvSpPr/>
          <p:nvPr/>
        </p:nvSpPr>
        <p:spPr>
          <a:xfrm>
            <a:off x="548640" y="5202936"/>
            <a:ext cx="4937760" cy="45720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STU6a858aa9bcbd61787136681</a:t>
            </a:r>
            <a:endParaRPr lang="en-US" sz="1500" dirty="0"/>
          </a:p>
        </p:txBody>
      </p:sp>
      <p:pic>
        <p:nvPicPr>
          <p:cNvPr id="16" name="Image 1" descr="/home/claude/unpacked/word/media/image1.png">    </p:cNvPr>
          <p:cNvPicPr>
            <a:picLocks noChangeAspect="1"/>
          </p:cNvPicPr>
          <p:nvPr/>
        </p:nvPicPr>
        <p:blipFill>
          <a:blip r:embed="rId2"/>
          <a:stretch>
            <a:fillRect/>
          </a:stretch>
        </p:blipFill>
        <p:spPr>
          <a:xfrm>
            <a:off x="320040" y="6400800"/>
            <a:ext cx="292608" cy="310896"/>
          </a:xfrm>
          <a:prstGeom prst="rect">
            <a:avLst/>
          </a:prstGeom>
        </p:spPr>
      </p:pic>
      <p:sp>
        <p:nvSpPr>
          <p:cNvPr id="17" name="Text 13"/>
          <p:cNvSpPr/>
          <p:nvPr/>
        </p:nvSpPr>
        <p:spPr>
          <a:xfrm>
            <a:off x="685800" y="6419088"/>
            <a:ext cx="7315200" cy="274320"/>
          </a:xfrm>
          <a:prstGeom prst="rect">
            <a:avLst/>
          </a:prstGeom>
          <a:noFill/>
          <a:ln/>
        </p:spPr>
        <p:txBody>
          <a:bodyPr wrap="square" rtlCol="0" anchor="ctr"/>
          <a:lstStyle/>
          <a:p>
            <a:pPr algn="l" indent="0" marL="0">
              <a:buNone/>
            </a:pPr>
            <a:r>
              <a:rPr lang="en-US" sz="900" dirty="0">
                <a:solidFill>
                  <a:srgbClr val="6B6B6B"/>
                </a:solidFill>
                <a:latin typeface="Calibri" pitchFamily="34" charset="0"/>
                <a:ea typeface="Calibri" pitchFamily="34" charset="-122"/>
                <a:cs typeface="Calibri" pitchFamily="34" charset="-120"/>
              </a:rPr>
              <a:t>Java Full Stack Developer Virtual Internship</a:t>
            </a:r>
            <a:endParaRPr lang="en-US" sz="900" dirty="0"/>
          </a:p>
        </p:txBody>
      </p:sp>
      <p:sp>
        <p:nvSpPr>
          <p:cNvPr id="18" name="Text 14"/>
          <p:cNvSpPr/>
          <p:nvPr/>
        </p:nvSpPr>
        <p:spPr>
          <a:xfrm>
            <a:off x="11368735" y="6419088"/>
            <a:ext cx="548640" cy="274320"/>
          </a:xfrm>
          <a:prstGeom prst="rect">
            <a:avLst/>
          </a:prstGeom>
          <a:noFill/>
          <a:ln/>
        </p:spPr>
        <p:txBody>
          <a:bodyPr wrap="square" rtlCol="0" anchor="ctr"/>
          <a:lstStyle/>
          <a:p>
            <a:pPr algn="r" indent="0" marL="0">
              <a:buNone/>
            </a:pPr>
            <a:r>
              <a:rPr lang="en-US" sz="900" dirty="0">
                <a:solidFill>
                  <a:srgbClr val="6B6B6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F3C7E"/>
        </a:solidFill>
      </p:bgPr>
    </p:bg>
    <p:spTree>
      <p:nvGrpSpPr>
        <p:cNvPr id="1" name=""/>
        <p:cNvGrpSpPr/>
        <p:nvPr/>
      </p:nvGrpSpPr>
      <p:grpSpPr>
        <a:xfrm>
          <a:off x="0" y="0"/>
          <a:ext cx="0" cy="0"/>
          <a:chOff x="0" y="0"/>
          <a:chExt cx="0" cy="0"/>
        </a:xfrm>
      </p:grpSpPr>
      <p:sp>
        <p:nvSpPr>
          <p:cNvPr id="2" name="Shape 0"/>
          <p:cNvSpPr/>
          <p:nvPr/>
        </p:nvSpPr>
        <p:spPr>
          <a:xfrm>
            <a:off x="-1828800" y="-1828800"/>
            <a:ext cx="4572000" cy="4572000"/>
          </a:xfrm>
          <a:prstGeom prst="ellipse">
            <a:avLst/>
          </a:prstGeom>
          <a:solidFill>
            <a:srgbClr val="26305F"/>
          </a:solidFill>
          <a:ln/>
        </p:spPr>
      </p:sp>
      <p:sp>
        <p:nvSpPr>
          <p:cNvPr id="3" name="Shape 1"/>
          <p:cNvSpPr/>
          <p:nvPr/>
        </p:nvSpPr>
        <p:spPr>
          <a:xfrm>
            <a:off x="9814255" y="4480560"/>
            <a:ext cx="4114800" cy="4114800"/>
          </a:xfrm>
          <a:prstGeom prst="ellipse">
            <a:avLst/>
          </a:prstGeom>
          <a:solidFill>
            <a:srgbClr val="990011"/>
          </a:solidFill>
          <a:ln/>
        </p:spPr>
      </p:sp>
      <p:sp>
        <p:nvSpPr>
          <p:cNvPr id="4" name="Shape 2"/>
          <p:cNvSpPr/>
          <p:nvPr/>
        </p:nvSpPr>
        <p:spPr>
          <a:xfrm>
            <a:off x="5364328" y="1005840"/>
            <a:ext cx="1463040" cy="1463040"/>
          </a:xfrm>
          <a:prstGeom prst="ellipse">
            <a:avLst/>
          </a:prstGeom>
          <a:solidFill>
            <a:srgbClr val="FFFFFF"/>
          </a:solidFill>
          <a:ln/>
        </p:spPr>
      </p:sp>
      <p:pic>
        <p:nvPicPr>
          <p:cNvPr id="5" name="Image 0" descr="/home/claude/unpacked/word/media/image1.png">    </p:cNvPr>
          <p:cNvPicPr>
            <a:picLocks noChangeAspect="1"/>
          </p:cNvPicPr>
          <p:nvPr/>
        </p:nvPicPr>
        <p:blipFill>
          <a:blip r:embed="rId1"/>
          <a:stretch>
            <a:fillRect/>
          </a:stretch>
        </p:blipFill>
        <p:spPr>
          <a:xfrm>
            <a:off x="5547208" y="1188720"/>
            <a:ext cx="1097280" cy="1097280"/>
          </a:xfrm>
          <a:prstGeom prst="rect">
            <a:avLst/>
          </a:prstGeom>
        </p:spPr>
      </p:pic>
      <p:sp>
        <p:nvSpPr>
          <p:cNvPr id="6" name="Text 3"/>
          <p:cNvSpPr/>
          <p:nvPr/>
        </p:nvSpPr>
        <p:spPr>
          <a:xfrm>
            <a:off x="0" y="2788920"/>
            <a:ext cx="12191695" cy="822960"/>
          </a:xfrm>
          <a:prstGeom prst="rect">
            <a:avLst/>
          </a:prstGeom>
          <a:noFill/>
          <a:ln/>
        </p:spPr>
        <p:txBody>
          <a:bodyPr wrap="square" rtlCol="0" anchor="ctr"/>
          <a:lstStyle/>
          <a:p>
            <a:pPr algn="ctr" indent="0" marL="0">
              <a:buNone/>
            </a:pPr>
            <a:r>
              <a:rPr lang="en-US" sz="4200" b="1" dirty="0">
                <a:solidFill>
                  <a:srgbClr val="FFFFFF"/>
                </a:solidFill>
                <a:latin typeface="Cambria" pitchFamily="34" charset="0"/>
                <a:ea typeface="Cambria" pitchFamily="34" charset="-122"/>
                <a:cs typeface="Cambria" pitchFamily="34" charset="-120"/>
              </a:rPr>
              <a:t>Thank You</a:t>
            </a:r>
            <a:endParaRPr lang="en-US" sz="4200" dirty="0"/>
          </a:p>
        </p:txBody>
      </p:sp>
      <p:sp>
        <p:nvSpPr>
          <p:cNvPr id="7" name="Text 4"/>
          <p:cNvSpPr/>
          <p:nvPr/>
        </p:nvSpPr>
        <p:spPr>
          <a:xfrm>
            <a:off x="0" y="3520440"/>
            <a:ext cx="12191695" cy="365760"/>
          </a:xfrm>
          <a:prstGeom prst="rect">
            <a:avLst/>
          </a:prstGeom>
          <a:noFill/>
          <a:ln/>
        </p:spPr>
        <p:txBody>
          <a:bodyPr wrap="square" rtlCol="0" anchor="ctr"/>
          <a:lstStyle/>
          <a:p>
            <a:pPr algn="ctr" indent="0" marL="0">
              <a:buNone/>
            </a:pPr>
            <a:r>
              <a:rPr lang="en-US" sz="1400" dirty="0">
                <a:solidFill>
                  <a:srgbClr val="CADCFC"/>
                </a:solidFill>
                <a:latin typeface="Calibri" pitchFamily="34" charset="0"/>
                <a:ea typeface="Calibri" pitchFamily="34" charset="-122"/>
                <a:cs typeface="Calibri" pitchFamily="34" charset="-120"/>
              </a:rPr>
              <a:t>Java Full Stack Developer Virtual Internship  —  Key Takeaway</a:t>
            </a:r>
            <a:endParaRPr lang="en-US" sz="1400" dirty="0"/>
          </a:p>
        </p:txBody>
      </p:sp>
      <p:sp>
        <p:nvSpPr>
          <p:cNvPr id="8" name="Text 5"/>
          <p:cNvSpPr/>
          <p:nvPr/>
        </p:nvSpPr>
        <p:spPr>
          <a:xfrm>
            <a:off x="1645920" y="4023360"/>
            <a:ext cx="8869680" cy="822960"/>
          </a:xfrm>
          <a:prstGeom prst="rect">
            <a:avLst/>
          </a:prstGeom>
          <a:noFill/>
          <a:ln/>
        </p:spPr>
        <p:txBody>
          <a:bodyPr wrap="square" rtlCol="0" anchor="ctr"/>
          <a:lstStyle/>
          <a:p>
            <a:pPr algn="ctr" indent="0" marL="0">
              <a:lnSpc>
                <a:spcPct val="125000"/>
              </a:lnSpc>
              <a:buNone/>
            </a:pPr>
            <a:r>
              <a:rPr lang="en-US" sz="1350" i="1" dirty="0">
                <a:solidFill>
                  <a:srgbClr val="E8ECF7"/>
                </a:solidFill>
                <a:latin typeface="Calibri" pitchFamily="34" charset="0"/>
                <a:ea typeface="Calibri" pitchFamily="34" charset="-122"/>
                <a:cs typeface="Calibri" pitchFamily="34" charset="-120"/>
              </a:rPr>
              <a:t>A complete, hands-on journey from Java fundamentals to a working full stack application — front-end, back-end and database — built the practical foundation for real-world software development.</a:t>
            </a:r>
            <a:endParaRPr lang="en-US" sz="1350" dirty="0"/>
          </a:p>
        </p:txBody>
      </p:sp>
      <p:sp>
        <p:nvSpPr>
          <p:cNvPr id="9" name="Shape 6"/>
          <p:cNvSpPr/>
          <p:nvPr/>
        </p:nvSpPr>
        <p:spPr>
          <a:xfrm>
            <a:off x="4267048" y="5120640"/>
            <a:ext cx="3657600" cy="0"/>
          </a:xfrm>
          <a:prstGeom prst="line">
            <a:avLst/>
          </a:prstGeom>
          <a:noFill/>
          <a:ln w="12700">
            <a:solidFill>
              <a:srgbClr val="5567A8"/>
            </a:solidFill>
            <a:prstDash val="solid"/>
          </a:ln>
        </p:spPr>
      </p:sp>
      <p:sp>
        <p:nvSpPr>
          <p:cNvPr id="10" name="Text 7"/>
          <p:cNvSpPr/>
          <p:nvPr/>
        </p:nvSpPr>
        <p:spPr>
          <a:xfrm>
            <a:off x="0" y="5257800"/>
            <a:ext cx="12191695" cy="36576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Rohan Singh  •  2410031588  •  B.Tech CSE  •  IILM University, Greater Noida</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2026-09-26T15:51:18Z</dcterms:created>
  <dcterms:modified xsi:type="dcterms:W3CDTF">2026-09-26T15:51:18Z</dcterms:modified>
</cp:coreProperties>
</file>